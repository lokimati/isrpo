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262" r:id="rId3"/>
    <p:sldId id="280" r:id="rId4"/>
    <p:sldId id="275" r:id="rId5"/>
    <p:sldId id="264" r:id="rId6"/>
    <p:sldId id="263" r:id="rId7"/>
    <p:sldId id="257" r:id="rId8"/>
    <p:sldId id="258" r:id="rId9"/>
    <p:sldId id="260" r:id="rId10"/>
    <p:sldId id="259" r:id="rId11"/>
    <p:sldId id="265" r:id="rId12"/>
    <p:sldId id="276" r:id="rId13"/>
    <p:sldId id="266" r:id="rId14"/>
    <p:sldId id="267" r:id="rId15"/>
    <p:sldId id="268" r:id="rId16"/>
    <p:sldId id="269" r:id="rId17"/>
    <p:sldId id="271" r:id="rId18"/>
    <p:sldId id="279" r:id="rId19"/>
    <p:sldId id="273" r:id="rId20"/>
    <p:sldId id="278" r:id="rId21"/>
    <p:sldId id="274" r:id="rId2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6" d="100"/>
          <a:sy n="106" d="100"/>
        </p:scale>
        <p:origin x="155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064A-D61B-4B21-B757-51A9B82445B8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05E07-67EA-4042-A3F6-853A8AD8D20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13" name="Скругленный прямоугольник 12"/>
          <p:cNvSpPr/>
          <p:nvPr/>
        </p:nvSpPr>
        <p:spPr>
          <a:xfrm>
            <a:off x="65313" y="69755"/>
            <a:ext cx="9013372" cy="669220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1295400" y="3200400"/>
            <a:ext cx="6400800" cy="160020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C9180-868E-4669-AA14-30A3E465E247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/>
        <p:txBody>
          <a:bodyPr lIns="0" tIns="0" rIns="0" bIns="0">
            <a:noAutofit/>
          </a:bodyPr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fld id="{6EC49EA7-2D2B-4647-B60B-EA4A64ECB0BD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62931" y="1449303"/>
            <a:ext cx="9021537" cy="1527349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Прямоугольник 9"/>
          <p:cNvSpPr/>
          <p:nvPr/>
        </p:nvSpPr>
        <p:spPr>
          <a:xfrm>
            <a:off x="62931" y="1396720"/>
            <a:ext cx="9021537" cy="120580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>
            <a:off x="62931" y="2976649"/>
            <a:ext cx="9021537" cy="110532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57200" y="1505930"/>
            <a:ext cx="8229600" cy="1470025"/>
          </a:xfrm>
        </p:spPr>
        <p:txBody>
          <a:bodyPr anchor="ctr"/>
          <a:lstStyle>
            <a:lvl1pPr algn="ctr">
              <a:defRPr lang="en-US" dirty="0">
                <a:solidFill>
                  <a:srgbClr val="FFFFFF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C9180-868E-4669-AA14-30A3E465E247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9EA7-2D2B-4647-B60B-EA4A64ECB0BD}" type="slidenum">
              <a:rPr lang="ru-RU" smtClean="0"/>
              <a:t>‹#›</a:t>
            </a:fld>
            <a:endParaRPr lang="ru-RU"/>
          </a:p>
        </p:txBody>
      </p:sp>
      <p:sp>
        <p:nvSpPr>
          <p:cNvPr id="8" name="Содержимое 7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7772400" cy="4572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10" name="Скругленный прямоугольник 9"/>
          <p:cNvSpPr/>
          <p:nvPr/>
        </p:nvSpPr>
        <p:spPr>
          <a:xfrm>
            <a:off x="65313" y="69755"/>
            <a:ext cx="9013372" cy="669220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3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952500"/>
            <a:ext cx="7772400" cy="1362075"/>
          </a:xfrm>
        </p:spPr>
        <p:txBody>
          <a:bodyPr anchor="b" anchorCtr="0"/>
          <a:lstStyle>
            <a:lvl1pPr algn="l">
              <a:buNone/>
              <a:defRPr sz="4000" b="0" cap="none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547938"/>
            <a:ext cx="7772400" cy="1338262"/>
          </a:xfrm>
        </p:spPr>
        <p:txBody>
          <a:bodyPr anchor="t" anchorCtr="0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C9180-868E-4669-AA14-30A3E465E247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800100" y="6172200"/>
            <a:ext cx="4000500" cy="457200"/>
          </a:xfrm>
        </p:spPr>
        <p:txBody>
          <a:bodyPr/>
          <a:lstStyle/>
          <a:p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 flipV="1">
            <a:off x="69412" y="2376830"/>
            <a:ext cx="9013515" cy="9144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Прямоугольник 7"/>
          <p:cNvSpPr/>
          <p:nvPr/>
        </p:nvSpPr>
        <p:spPr>
          <a:xfrm>
            <a:off x="69146" y="2341475"/>
            <a:ext cx="9013781" cy="45719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Прямоугольник 8"/>
          <p:cNvSpPr/>
          <p:nvPr/>
        </p:nvSpPr>
        <p:spPr>
          <a:xfrm>
            <a:off x="68306" y="2468880"/>
            <a:ext cx="9014621" cy="45720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46304" y="6208776"/>
            <a:ext cx="457200" cy="457200"/>
          </a:xfrm>
        </p:spPr>
        <p:txBody>
          <a:bodyPr/>
          <a:lstStyle/>
          <a:p>
            <a:fld id="{6EC49EA7-2D2B-4647-B60B-EA4A64ECB0BD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C9180-868E-4669-AA14-30A3E465E247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9EA7-2D2B-4647-B60B-EA4A64ECB0BD}" type="slidenum">
              <a:rPr lang="ru-RU" smtClean="0"/>
              <a:t>‹#›</a:t>
            </a:fld>
            <a:endParaRPr lang="ru-RU"/>
          </a:p>
        </p:txBody>
      </p:sp>
      <p:sp>
        <p:nvSpPr>
          <p:cNvPr id="9" name="Содержимое 8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3749040" cy="4572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11" name="Содержимое 10"/>
          <p:cNvSpPr>
            <a:spLocks noGrp="1"/>
          </p:cNvSpPr>
          <p:nvPr>
            <p:ph sz="quarter" idx="2"/>
          </p:nvPr>
        </p:nvSpPr>
        <p:spPr>
          <a:xfrm>
            <a:off x="4933950" y="1447800"/>
            <a:ext cx="3749040" cy="4572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 anchor="b" anchorCtr="0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144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9530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C9180-868E-4669-AA14-30A3E465E247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9EA7-2D2B-4647-B60B-EA4A64ECB0BD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Содержимое 10"/>
          <p:cNvSpPr>
            <a:spLocks noGrp="1"/>
          </p:cNvSpPr>
          <p:nvPr>
            <p:ph sz="half" idx="2"/>
          </p:nvPr>
        </p:nvSpPr>
        <p:spPr>
          <a:xfrm>
            <a:off x="914400" y="2247900"/>
            <a:ext cx="3733800" cy="38862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13" name="Содержимое 12"/>
          <p:cNvSpPr>
            <a:spLocks noGrp="1"/>
          </p:cNvSpPr>
          <p:nvPr>
            <p:ph sz="half" idx="4"/>
          </p:nvPr>
        </p:nvSpPr>
        <p:spPr>
          <a:xfrm>
            <a:off x="4953000" y="2247900"/>
            <a:ext cx="3733800" cy="38862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C9180-868E-4669-AA14-30A3E465E247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9EA7-2D2B-4647-B60B-EA4A64ECB0B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C9180-868E-4669-AA14-30A3E465E247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9EA7-2D2B-4647-B60B-EA4A64ECB0B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9" name="Скругленный прямоугольник 8"/>
          <p:cNvSpPr/>
          <p:nvPr/>
        </p:nvSpPr>
        <p:spPr>
          <a:xfrm>
            <a:off x="64008" y="69755"/>
            <a:ext cx="9013372" cy="6693408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 anchor="b" anchorCtr="0"/>
          <a:lstStyle>
            <a:lvl1pPr algn="l">
              <a:buNone/>
              <a:defRPr sz="4000" b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914400" y="1600200"/>
            <a:ext cx="1905000" cy="4495800"/>
          </a:xfrm>
        </p:spPr>
        <p:txBody>
          <a:bodyPr/>
          <a:lstStyle>
            <a:lvl1pPr marL="0" indent="0">
              <a:buNone/>
              <a:defRPr sz="18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C9180-868E-4669-AA14-30A3E465E247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9EA7-2D2B-4647-B60B-EA4A64ECB0BD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Содержимое 10"/>
          <p:cNvSpPr>
            <a:spLocks noGrp="1"/>
          </p:cNvSpPr>
          <p:nvPr>
            <p:ph sz="quarter" idx="1"/>
          </p:nvPr>
        </p:nvSpPr>
        <p:spPr>
          <a:xfrm>
            <a:off x="2971800" y="1600200"/>
            <a:ext cx="5715000" cy="44958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4900550"/>
            <a:ext cx="7315200" cy="522288"/>
          </a:xfrm>
        </p:spPr>
        <p:txBody>
          <a:bodyPr anchor="ctr">
            <a:noAutofit/>
          </a:bodyPr>
          <a:lstStyle>
            <a:lvl1pPr algn="l">
              <a:buNone/>
              <a:defRPr sz="2800" b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914400" y="5445825"/>
            <a:ext cx="7315200" cy="685800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C9180-868E-4669-AA14-30A3E465E247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>
          <a:xfrm>
            <a:off x="914400" y="6172200"/>
            <a:ext cx="3886200" cy="457200"/>
          </a:xfr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146304" y="6208776"/>
            <a:ext cx="457200" cy="457200"/>
          </a:xfrm>
        </p:spPr>
        <p:txBody>
          <a:bodyPr/>
          <a:lstStyle/>
          <a:p>
            <a:fld id="{6EC49EA7-2D2B-4647-B60B-EA4A64ECB0BD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 flipV="1">
            <a:off x="68307" y="4683555"/>
            <a:ext cx="9006840" cy="9144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68508" y="4650474"/>
            <a:ext cx="9006639" cy="45719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Прямоугольник 12"/>
          <p:cNvSpPr/>
          <p:nvPr/>
        </p:nvSpPr>
        <p:spPr>
          <a:xfrm>
            <a:off x="68510" y="4773224"/>
            <a:ext cx="9006637" cy="48807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68308" y="66675"/>
            <a:ext cx="9001873" cy="4581525"/>
          </a:xfrm>
          <a:prstGeom prst="round2SameRect">
            <a:avLst>
              <a:gd name="adj1" fmla="val 7101"/>
              <a:gd name="adj2" fmla="val 0"/>
            </a:avLst>
          </a:prstGeom>
          <a:solidFill>
            <a:schemeClr val="bg2"/>
          </a:solid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ru-RU" smtClean="0"/>
              <a:t>Вставка рисунка</a:t>
            </a:r>
            <a:endParaRPr kumimoji="0"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C9180-868E-4669-AA14-30A3E465E247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9EA7-2D2B-4647-B60B-EA4A64ECB0B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41"/>
            <a:ext cx="2011680" cy="5851525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914400" y="274640"/>
            <a:ext cx="5562600" cy="5851525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C9180-868E-4669-AA14-30A3E465E247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9EA7-2D2B-4647-B60B-EA4A64ECB0B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8" name="Скругленный прямоугольник 7"/>
          <p:cNvSpPr/>
          <p:nvPr/>
        </p:nvSpPr>
        <p:spPr>
          <a:xfrm>
            <a:off x="64008" y="69755"/>
            <a:ext cx="9013372" cy="6693408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914400" y="274638"/>
            <a:ext cx="7772400" cy="1143000"/>
          </a:xfrm>
          <a:prstGeom prst="rect">
            <a:avLst/>
          </a:prstGeom>
        </p:spPr>
        <p:txBody>
          <a:bodyPr bIns="91440" anchor="b" anchorCtr="0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914400" y="1447800"/>
            <a:ext cx="7772400" cy="457200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6172200" y="6191250"/>
            <a:ext cx="2476500" cy="476250"/>
          </a:xfrm>
          <a:prstGeom prst="rect">
            <a:avLst/>
          </a:prstGeom>
        </p:spPr>
        <p:txBody>
          <a:bodyPr anchor="ctr" anchorCtr="0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B2DC9180-868E-4669-AA14-30A3E465E247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914400" y="6172200"/>
            <a:ext cx="3962400" cy="457200"/>
          </a:xfrm>
          <a:prstGeom prst="rect">
            <a:avLst/>
          </a:prstGeom>
        </p:spPr>
        <p:txBody>
          <a:bodyPr anchor="ctr" anchorCtr="0"/>
          <a:lstStyle>
            <a:lvl1pPr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146304" y="6210300"/>
            <a:ext cx="457200" cy="457200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anchor="ctr" anchorCtr="1">
            <a:noAutofit/>
          </a:bodyPr>
          <a:lstStyle>
            <a:lvl1pPr algn="ctr" eaLnBrk="1" latinLnBrk="0" hangingPunct="1">
              <a:defRPr kumimoji="0" sz="14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fld id="{6EC49EA7-2D2B-4647-B60B-EA4A64ECB0BD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latinLnBrk="0" hangingPunct="1">
        <a:spcBef>
          <a:spcPct val="0"/>
        </a:spcBef>
        <a:buNone/>
        <a:defRPr kumimoji="0"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580"/>
        </a:spcBef>
        <a:buClr>
          <a:schemeClr val="accent1"/>
        </a:buClr>
        <a:buSzPct val="85000"/>
        <a:buFont typeface="Wingdings 2" panose="05020102010507070707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28600" algn="l" rtl="0" eaLnBrk="1" latinLnBrk="0" hangingPunct="1">
        <a:spcBef>
          <a:spcPts val="370"/>
        </a:spcBef>
        <a:buClr>
          <a:schemeClr val="accent2"/>
        </a:buClr>
        <a:buSzPct val="85000"/>
        <a:buFont typeface="Wingdings 2" panose="05020102010507070707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SzPct val="85000"/>
        <a:buFont typeface="Wingdings 2" panose="05020102010507070707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370"/>
        </a:spcBef>
        <a:buClr>
          <a:schemeClr val="accent3"/>
        </a:buClr>
        <a:buSzPct val="80000"/>
        <a:buFont typeface="Wingdings 2" panose="05020102010507070707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70"/>
        </a:spcBef>
        <a:buClr>
          <a:schemeClr val="accent3"/>
        </a:buClr>
        <a:buFontTx/>
        <a:buChar char="o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28600" algn="l" rtl="0" eaLnBrk="1" latinLnBrk="0" hangingPunct="1">
        <a:spcBef>
          <a:spcPts val="370"/>
        </a:spcBef>
        <a:buClr>
          <a:schemeClr val="accent3"/>
        </a:buClr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28600" algn="l" rtl="0" eaLnBrk="1" latinLnBrk="0" hangingPunct="1">
        <a:spcBef>
          <a:spcPts val="370"/>
        </a:spcBef>
        <a:buClr>
          <a:schemeClr val="accent2"/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228600" algn="l" rtl="0" eaLnBrk="1" latinLnBrk="0" hangingPunct="1">
        <a:spcBef>
          <a:spcPts val="370"/>
        </a:spcBef>
        <a:buClr>
          <a:schemeClr val="accent2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rcotel.ru/studentam/metodicheskaya-literatura" TargetMode="External"/><Relationship Id="rId2" Type="http://schemas.openxmlformats.org/officeDocument/2006/relationships/hyperlink" Target="https://arcotel.ru/new_site/images/upload/studentam/metodicheskaya-literatura/Sto2025.pdf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znanium.ru/catalog/product/2178802" TargetMode="External"/><Relationship Id="rId2" Type="http://schemas.openxmlformats.org/officeDocument/2006/relationships/hyperlink" Target="https://ibooks.ru/bookshelf/376974/reading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znanium.ru/catalog/product/2083407" TargetMode="External"/><Relationship Id="rId5" Type="http://schemas.openxmlformats.org/officeDocument/2006/relationships/hyperlink" Target="https://ibooks.ru/bookshelf/386796/reading" TargetMode="External"/><Relationship Id="rId4" Type="http://schemas.openxmlformats.org/officeDocument/2006/relationships/hyperlink" Target="https://znanium.ru/catalog/product/209694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295400" y="3200400"/>
            <a:ext cx="6400800" cy="3396952"/>
          </a:xfrm>
        </p:spPr>
        <p:txBody>
          <a:bodyPr>
            <a:normAutofit/>
          </a:bodyPr>
          <a:lstStyle/>
          <a:p>
            <a:endParaRPr lang="ru-RU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  <a:p>
            <a:r>
              <a:rPr lang="ru-RU" dirty="0" smtClean="0"/>
              <a:t>2026</a:t>
            </a:r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692696"/>
            <a:ext cx="9144000" cy="3096344"/>
          </a:xfrm>
        </p:spPr>
        <p:txBody>
          <a:bodyPr>
            <a:normAutofit/>
          </a:bodyPr>
          <a:lstStyle/>
          <a:p>
            <a:r>
              <a:rPr lang="ru-RU" sz="3600" dirty="0" smtClean="0"/>
              <a:t>Курсовое проектирование</a:t>
            </a:r>
            <a:br>
              <a:rPr lang="ru-RU" sz="3600" dirty="0" smtClean="0"/>
            </a:br>
            <a:r>
              <a:rPr lang="ru-RU" sz="3600" dirty="0" smtClean="0"/>
              <a:t>МДК.02.01</a:t>
            </a:r>
            <a:r>
              <a:rPr lang="ru-RU" sz="3600" dirty="0"/>
              <a:t/>
            </a:r>
            <a:br>
              <a:rPr lang="ru-RU" sz="3600" dirty="0"/>
            </a:br>
            <a:r>
              <a:rPr lang="ru-RU" sz="3600" dirty="0"/>
              <a:t>Технология разработки </a:t>
            </a:r>
            <a:r>
              <a:rPr lang="ru-RU" sz="3600" dirty="0" smtClean="0"/>
              <a:t>ПО</a:t>
            </a:r>
            <a:endParaRPr lang="ru-RU" sz="3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Тема курсового проекта (КП)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Разработка </a:t>
            </a:r>
            <a:r>
              <a:rPr lang="ru-RU" dirty="0" smtClean="0"/>
              <a:t>информационной системы </a:t>
            </a:r>
            <a:r>
              <a:rPr lang="ru-RU" dirty="0"/>
              <a:t>«</a:t>
            </a:r>
            <a:r>
              <a:rPr lang="ru-RU" dirty="0">
                <a:solidFill>
                  <a:srgbClr val="FF0000"/>
                </a:solidFill>
              </a:rPr>
              <a:t>…</a:t>
            </a:r>
            <a:r>
              <a:rPr lang="ru-RU" dirty="0"/>
              <a:t>»</a:t>
            </a:r>
          </a:p>
          <a:p>
            <a:r>
              <a:rPr lang="ru-RU" dirty="0"/>
              <a:t>Разработка подсистемы «</a:t>
            </a:r>
            <a:r>
              <a:rPr lang="ru-RU" dirty="0">
                <a:solidFill>
                  <a:srgbClr val="FF0000"/>
                </a:solidFill>
              </a:rPr>
              <a:t>…</a:t>
            </a:r>
            <a:r>
              <a:rPr lang="ru-RU" dirty="0"/>
              <a:t>»</a:t>
            </a:r>
          </a:p>
          <a:p>
            <a:r>
              <a:rPr lang="ru-RU" dirty="0" smtClean="0"/>
              <a:t>Разработка </a:t>
            </a:r>
            <a:r>
              <a:rPr lang="ru-RU" dirty="0"/>
              <a:t>обучающей </a:t>
            </a:r>
            <a:r>
              <a:rPr lang="ru-RU" dirty="0" smtClean="0"/>
              <a:t>программы «</a:t>
            </a:r>
            <a:r>
              <a:rPr lang="ru-RU" dirty="0" smtClean="0">
                <a:solidFill>
                  <a:srgbClr val="FF0000"/>
                </a:solidFill>
              </a:rPr>
              <a:t>…</a:t>
            </a:r>
            <a:r>
              <a:rPr lang="ru-RU" dirty="0" smtClean="0"/>
              <a:t>»</a:t>
            </a:r>
          </a:p>
          <a:p>
            <a:r>
              <a:rPr lang="ru-RU" dirty="0" smtClean="0"/>
              <a:t>Разработка мобильного приложения «</a:t>
            </a:r>
            <a:r>
              <a:rPr lang="ru-RU" dirty="0" smtClean="0">
                <a:solidFill>
                  <a:srgbClr val="FF0000"/>
                </a:solidFill>
              </a:rPr>
              <a:t>…</a:t>
            </a:r>
            <a:r>
              <a:rPr lang="ru-RU" dirty="0" smtClean="0"/>
              <a:t>»</a:t>
            </a:r>
          </a:p>
          <a:p>
            <a:r>
              <a:rPr lang="ru-RU" dirty="0" smtClean="0"/>
              <a:t>Разработка </a:t>
            </a:r>
            <a:r>
              <a:rPr lang="ru-RU" dirty="0" smtClean="0"/>
              <a:t>веб-</a:t>
            </a:r>
            <a:r>
              <a:rPr lang="ru-RU" dirty="0" smtClean="0"/>
              <a:t>приложения</a:t>
            </a:r>
            <a:r>
              <a:rPr lang="ru-RU" dirty="0" smtClean="0"/>
              <a:t> </a:t>
            </a:r>
            <a:r>
              <a:rPr lang="ru-RU" dirty="0" smtClean="0"/>
              <a:t>«</a:t>
            </a:r>
            <a:r>
              <a:rPr lang="ru-RU" dirty="0" smtClean="0">
                <a:solidFill>
                  <a:srgbClr val="FF0000"/>
                </a:solidFill>
              </a:rPr>
              <a:t>…</a:t>
            </a:r>
            <a:r>
              <a:rPr lang="ru-RU" dirty="0" smtClean="0"/>
              <a:t>»</a:t>
            </a:r>
          </a:p>
          <a:p>
            <a:r>
              <a:rPr lang="ru-RU" dirty="0" smtClean="0"/>
              <a:t>Разработка сервиса </a:t>
            </a:r>
            <a:r>
              <a:rPr lang="ru-RU" dirty="0"/>
              <a:t>«</a:t>
            </a:r>
            <a:r>
              <a:rPr lang="ru-RU" dirty="0">
                <a:solidFill>
                  <a:srgbClr val="FF0000"/>
                </a:solidFill>
              </a:rPr>
              <a:t>…</a:t>
            </a:r>
            <a:r>
              <a:rPr lang="ru-RU" dirty="0"/>
              <a:t>»</a:t>
            </a:r>
          </a:p>
          <a:p>
            <a:r>
              <a:rPr lang="ru-RU" dirty="0" smtClean="0"/>
              <a:t>Разработка игрового приложения «</a:t>
            </a:r>
            <a:r>
              <a:rPr lang="ru-RU" dirty="0" smtClean="0">
                <a:solidFill>
                  <a:srgbClr val="FF0000"/>
                </a:solidFill>
              </a:rPr>
              <a:t>…</a:t>
            </a:r>
            <a:r>
              <a:rPr lang="ru-RU" dirty="0" smtClean="0"/>
              <a:t>»</a:t>
            </a:r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i="1" dirty="0" smtClean="0"/>
              <a:t>Вместо названия можно описание основной функциональности, например:</a:t>
            </a:r>
          </a:p>
          <a:p>
            <a:pPr marL="0" indent="0">
              <a:buNone/>
            </a:pPr>
            <a:r>
              <a:rPr lang="ru-RU" i="1" dirty="0"/>
              <a:t>Разработка информационной системы </a:t>
            </a:r>
            <a:r>
              <a:rPr lang="ru-RU" i="1" dirty="0" smtClean="0"/>
              <a:t>учета посещаемости студентов колледжа</a:t>
            </a:r>
            <a:endParaRPr lang="ru-RU" i="1" dirty="0"/>
          </a:p>
          <a:p>
            <a:pPr marL="0" indent="0">
              <a:buNone/>
            </a:pPr>
            <a:endParaRPr lang="en-US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Требования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smtClean="0"/>
              <a:t>GUI (</a:t>
            </a:r>
            <a:r>
              <a:rPr lang="ru-RU" dirty="0" smtClean="0"/>
              <a:t>оконный / веб / мобильный или их комбинация),</a:t>
            </a:r>
          </a:p>
          <a:p>
            <a:r>
              <a:rPr lang="ru-RU" dirty="0" smtClean="0"/>
              <a:t>Просмотр данных БД,</a:t>
            </a:r>
          </a:p>
          <a:p>
            <a:r>
              <a:rPr lang="ru-RU" dirty="0" smtClean="0"/>
              <a:t>Фильтрация</a:t>
            </a:r>
            <a:r>
              <a:rPr lang="en-US" dirty="0" smtClean="0"/>
              <a:t> (</a:t>
            </a:r>
            <a:r>
              <a:rPr lang="ru-RU" dirty="0" smtClean="0"/>
              <a:t>выпадающие списки / флажки / переключатели и т.д.), поиск по введенному в поисковую строку тексту и сортировка данных (по возрастанию/убыванию) при просмотре с возможностью сброса фильтров,</a:t>
            </a:r>
          </a:p>
          <a:p>
            <a:r>
              <a:rPr lang="ru-RU" dirty="0" smtClean="0"/>
              <a:t>Добавление / обновление / удаление данных БД,</a:t>
            </a:r>
          </a:p>
          <a:p>
            <a:r>
              <a:rPr lang="ru-RU" dirty="0" smtClean="0"/>
              <a:t>Авторизация и регистрация пользователей,</a:t>
            </a:r>
          </a:p>
          <a:p>
            <a:r>
              <a:rPr lang="ru-RU" dirty="0" smtClean="0"/>
              <a:t>Разграничение прав доступа (минимум 3 роли, включая роль «гость» для неавторизованных пользователей),</a:t>
            </a:r>
          </a:p>
          <a:p>
            <a:r>
              <a:rPr lang="ru-RU" dirty="0"/>
              <a:t>Настройка </a:t>
            </a:r>
            <a:r>
              <a:rPr lang="ru-RU" dirty="0" smtClean="0"/>
              <a:t>единого внешнего вида </a:t>
            </a:r>
            <a:r>
              <a:rPr lang="ru-RU" dirty="0"/>
              <a:t>для приложения </a:t>
            </a:r>
            <a:r>
              <a:rPr lang="ru-RU" dirty="0" smtClean="0"/>
              <a:t>(стили, цвета</a:t>
            </a:r>
            <a:r>
              <a:rPr lang="ru-RU" dirty="0"/>
              <a:t>, шрифты, логотипы, иконки, пиктограммы</a:t>
            </a:r>
            <a:r>
              <a:rPr lang="ru-RU" dirty="0" smtClean="0"/>
              <a:t>),</a:t>
            </a:r>
          </a:p>
          <a:p>
            <a:r>
              <a:rPr lang="ru-RU" dirty="0" smtClean="0"/>
              <a:t>Размещение проекта онлайн в </a:t>
            </a:r>
            <a:r>
              <a:rPr lang="en-US" dirty="0" err="1" smtClean="0"/>
              <a:t>git</a:t>
            </a:r>
            <a:r>
              <a:rPr lang="ru-RU" dirty="0" smtClean="0"/>
              <a:t>-</a:t>
            </a:r>
            <a:r>
              <a:rPr lang="ru-RU" dirty="0" err="1" smtClean="0"/>
              <a:t>репозитории</a:t>
            </a:r>
            <a:r>
              <a:rPr lang="ru-RU" dirty="0" smtClean="0"/>
              <a:t> (с адекватными </a:t>
            </a:r>
            <a:r>
              <a:rPr lang="ru-RU" dirty="0" err="1" smtClean="0"/>
              <a:t>коммитами</a:t>
            </a:r>
            <a:r>
              <a:rPr lang="ru-RU" dirty="0" smtClean="0"/>
              <a:t> на протяжении всего курсового проектирования)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39222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Цель курсового проектирования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ru-RU" b="1" dirty="0" smtClean="0"/>
              <a:t>Цель </a:t>
            </a:r>
            <a:r>
              <a:rPr lang="ru-RU" i="1" dirty="0" smtClean="0"/>
              <a:t>(примерное описание)</a:t>
            </a:r>
          </a:p>
          <a:p>
            <a:pPr marL="0" indent="0">
              <a:buNone/>
            </a:pPr>
            <a:r>
              <a:rPr lang="ru-RU" dirty="0" smtClean="0"/>
              <a:t>В ходе курсового проектирования требуется разработать многопользовательскую клиент-серверную информационную систему для учета </a:t>
            </a:r>
            <a:r>
              <a:rPr lang="ru-RU" dirty="0" smtClean="0">
                <a:solidFill>
                  <a:srgbClr val="FF0000"/>
                </a:solidFill>
              </a:rPr>
              <a:t>..., </a:t>
            </a:r>
            <a:r>
              <a:rPr lang="ru-RU" dirty="0" smtClean="0"/>
              <a:t>автоматизации </a:t>
            </a:r>
            <a:r>
              <a:rPr lang="ru-RU" dirty="0">
                <a:solidFill>
                  <a:srgbClr val="FF0000"/>
                </a:solidFill>
              </a:rPr>
              <a:t>…, </a:t>
            </a:r>
            <a:r>
              <a:rPr lang="ru-RU" dirty="0" smtClean="0">
                <a:solidFill>
                  <a:srgbClr val="FF0000"/>
                </a:solidFill>
              </a:rPr>
              <a:t>…</a:t>
            </a:r>
            <a:r>
              <a:rPr lang="ru-RU" dirty="0" smtClean="0"/>
              <a:t>.</a:t>
            </a:r>
          </a:p>
          <a:p>
            <a:endParaRPr lang="ru-RU" dirty="0" smtClean="0"/>
          </a:p>
          <a:p>
            <a:pPr>
              <a:buNone/>
            </a:pPr>
            <a:r>
              <a:rPr lang="ru-RU" b="1" dirty="0" smtClean="0"/>
              <a:t>Задачи</a:t>
            </a:r>
          </a:p>
          <a:p>
            <a:pPr marL="0" indent="0">
              <a:buNone/>
            </a:pPr>
            <a:r>
              <a:rPr lang="ru-RU" dirty="0" smtClean="0"/>
              <a:t>Для достижения поставленной цели требуется выполнить следующие задачи: </a:t>
            </a:r>
            <a:r>
              <a:rPr lang="ru-RU" dirty="0" smtClean="0">
                <a:solidFill>
                  <a:schemeClr val="accent1"/>
                </a:solidFill>
              </a:rPr>
              <a:t>...</a:t>
            </a:r>
            <a:r>
              <a:rPr lang="ru-RU" dirty="0" smtClean="0"/>
              <a:t>.</a:t>
            </a:r>
          </a:p>
          <a:p>
            <a:r>
              <a:rPr lang="ru-RU" dirty="0" smtClean="0"/>
              <a:t>задачи берутся из этапов создания своего ПО (от сбора и анализа требований до внедрения), требований к проекту, из ФГОС 09.02.07.</a:t>
            </a:r>
          </a:p>
          <a:p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Задачи курсового проектирования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pPr lvl="0"/>
            <a:r>
              <a:rPr lang="ru-RU" dirty="0" smtClean="0"/>
              <a:t>изучить особенности конкретной предметной области, относящиеся к теме курсового проектирования,</a:t>
            </a:r>
          </a:p>
          <a:p>
            <a:pPr lvl="0"/>
            <a:r>
              <a:rPr lang="ru-RU" dirty="0" smtClean="0"/>
              <a:t>спроектировать диаграммы и модели, необходимые для разработки ПО</a:t>
            </a:r>
            <a:r>
              <a:rPr lang="en-US" dirty="0" smtClean="0"/>
              <a:t> (</a:t>
            </a:r>
            <a:r>
              <a:rPr lang="ru-RU" dirty="0" smtClean="0"/>
              <a:t>перечислить каждую отдельным пунктом),</a:t>
            </a:r>
          </a:p>
          <a:p>
            <a:pPr lvl="0"/>
            <a:r>
              <a:rPr lang="ru-RU" dirty="0" smtClean="0"/>
              <a:t>разработать БД / </a:t>
            </a:r>
            <a:r>
              <a:rPr lang="en-US" dirty="0" smtClean="0"/>
              <a:t>API</a:t>
            </a:r>
            <a:r>
              <a:rPr lang="ru-RU" dirty="0" smtClean="0"/>
              <a:t> / программный модуль …,</a:t>
            </a:r>
          </a:p>
          <a:p>
            <a:pPr lvl="0"/>
            <a:r>
              <a:rPr lang="ru-RU" dirty="0" smtClean="0"/>
              <a:t>реализовать экспорт данных и формирование отчетов в формате …,</a:t>
            </a:r>
          </a:p>
          <a:p>
            <a:pPr lvl="0"/>
            <a:r>
              <a:rPr lang="ru-RU" dirty="0" smtClean="0"/>
              <a:t>реализовать разграничение прав доступа пользователей,</a:t>
            </a:r>
          </a:p>
          <a:p>
            <a:pPr lvl="0"/>
            <a:r>
              <a:rPr lang="ru-RU" dirty="0"/>
              <a:t>р</a:t>
            </a:r>
            <a:r>
              <a:rPr lang="ru-RU" dirty="0" smtClean="0"/>
              <a:t>еализовать фильтрацию / поиск / сортировку данных,</a:t>
            </a:r>
          </a:p>
          <a:p>
            <a:pPr lvl="0"/>
            <a:r>
              <a:rPr lang="ru-RU" dirty="0" smtClean="0"/>
              <a:t>реализовать защиту данных,</a:t>
            </a:r>
          </a:p>
          <a:p>
            <a:pPr lvl="0"/>
            <a:r>
              <a:rPr lang="ru-RU" dirty="0" smtClean="0"/>
              <a:t>выполнить тестирование и отладку ПО и проанализировать результаты тестирования,</a:t>
            </a:r>
          </a:p>
          <a:p>
            <a:pPr lvl="0"/>
            <a:r>
              <a:rPr lang="ru-RU" dirty="0" smtClean="0"/>
              <a:t>разработать программную и эксплуатационную документацию.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Задачи курсового проектирования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/>
          </a:bodyPr>
          <a:lstStyle/>
          <a:p>
            <a:pPr lvl="0"/>
            <a:r>
              <a:rPr lang="ru-RU" dirty="0" smtClean="0"/>
              <a:t>систематизировать и закрепить полученные теоретические знания и практические умения по общепрофессиональным и специальным дисциплинам специальности «09.02.0</a:t>
            </a:r>
            <a:r>
              <a:rPr lang="en-US" dirty="0" smtClean="0"/>
              <a:t>7</a:t>
            </a:r>
            <a:r>
              <a:rPr lang="ru-RU" dirty="0" smtClean="0"/>
              <a:t> — Информационные системы и программирование»,</a:t>
            </a:r>
          </a:p>
          <a:p>
            <a:pPr lvl="0"/>
            <a:r>
              <a:rPr lang="ru-RU" dirty="0" smtClean="0"/>
              <a:t>углубить теоретические знания в соответствии с заданной темой,</a:t>
            </a:r>
          </a:p>
          <a:p>
            <a:pPr lvl="0"/>
            <a:r>
              <a:rPr lang="ru-RU" dirty="0" smtClean="0"/>
              <a:t>сформировать умения применять теоретические знания при решении поставленных вопросов,</a:t>
            </a:r>
          </a:p>
          <a:p>
            <a:pPr lvl="0"/>
            <a:r>
              <a:rPr lang="ru-RU" dirty="0" smtClean="0"/>
              <a:t>сформировать умения использовать справочную и нормативную документацию.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Профессиональные компетенции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10000"/>
          </a:bodyPr>
          <a:lstStyle/>
          <a:p>
            <a:pPr lvl="0"/>
            <a:r>
              <a:rPr lang="ru-RU" dirty="0" smtClean="0"/>
              <a:t>ПК 2.1. </a:t>
            </a:r>
            <a:r>
              <a:rPr lang="ru-RU" dirty="0"/>
              <a:t>Разрабатывать требования к программным модулям на основе анализа проектной и технической документации на предмет взаимодействия компонент</a:t>
            </a:r>
            <a:r>
              <a:rPr lang="ru-RU" dirty="0" smtClean="0"/>
              <a:t>,</a:t>
            </a:r>
          </a:p>
          <a:p>
            <a:pPr lvl="0"/>
            <a:r>
              <a:rPr lang="ru-RU" dirty="0" smtClean="0"/>
              <a:t>ПК 2.2. </a:t>
            </a:r>
            <a:r>
              <a:rPr lang="ru-RU" dirty="0"/>
              <a:t>Выполнять интеграцию модулей в программное обеспечение</a:t>
            </a:r>
            <a:r>
              <a:rPr lang="ru-RU" dirty="0" smtClean="0"/>
              <a:t>,</a:t>
            </a:r>
          </a:p>
          <a:p>
            <a:pPr lvl="0"/>
            <a:r>
              <a:rPr lang="ru-RU" dirty="0" smtClean="0"/>
              <a:t>ПК 2.3. </a:t>
            </a:r>
            <a:r>
              <a:rPr lang="ru-RU" dirty="0"/>
              <a:t>Выполнять отладку программного модуля с использованием специализированных программных средств</a:t>
            </a:r>
            <a:r>
              <a:rPr lang="ru-RU" dirty="0" smtClean="0"/>
              <a:t>,</a:t>
            </a:r>
          </a:p>
          <a:p>
            <a:pPr lvl="0"/>
            <a:r>
              <a:rPr lang="ru-RU" dirty="0" smtClean="0"/>
              <a:t>ПК 2.4. </a:t>
            </a:r>
            <a:r>
              <a:rPr lang="ru-RU" dirty="0"/>
              <a:t>Осуществлять разработку тестовых наборов и тестовых сценариев для программного </a:t>
            </a:r>
            <a:r>
              <a:rPr lang="ru-RU" dirty="0" smtClean="0"/>
              <a:t>обеспечения,</a:t>
            </a:r>
          </a:p>
          <a:p>
            <a:pPr lvl="0"/>
            <a:r>
              <a:rPr lang="ru-RU" dirty="0"/>
              <a:t>ПК 2.5 Производить инспектирование компонент программного обеспечения на предмет соответствия стандартам кодирования</a:t>
            </a:r>
            <a:endParaRPr lang="ru-RU" dirty="0" smtClean="0"/>
          </a:p>
          <a:p>
            <a:pPr lvl="0"/>
            <a:endParaRPr lang="ru-RU" dirty="0" smtClean="0"/>
          </a:p>
          <a:p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Практический опыт (ФГОС)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lvl="0"/>
            <a:r>
              <a:rPr lang="ru-RU" dirty="0" smtClean="0"/>
              <a:t>в </a:t>
            </a:r>
            <a:r>
              <a:rPr lang="ru-RU" dirty="0"/>
              <a:t>интеграции модулей в программное </a:t>
            </a:r>
            <a:r>
              <a:rPr lang="ru-RU" dirty="0" smtClean="0"/>
              <a:t>обеспечение,</a:t>
            </a:r>
          </a:p>
          <a:p>
            <a:pPr lvl="0"/>
            <a:r>
              <a:rPr lang="ru-RU" dirty="0" smtClean="0"/>
              <a:t>в </a:t>
            </a:r>
            <a:r>
              <a:rPr lang="ru-RU" dirty="0"/>
              <a:t>отладке программных </a:t>
            </a:r>
            <a:r>
              <a:rPr lang="ru-RU" dirty="0" smtClean="0"/>
              <a:t>модулей,</a:t>
            </a:r>
          </a:p>
          <a:p>
            <a:pPr lvl="0"/>
            <a:r>
              <a:rPr lang="ru-RU" dirty="0" smtClean="0"/>
              <a:t>инспектирования </a:t>
            </a:r>
            <a:r>
              <a:rPr lang="ru-RU" dirty="0"/>
              <a:t>разработанных программных модулей на предмет соответствия стандартам кодирования.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Умения</a:t>
            </a:r>
            <a:r>
              <a:rPr lang="ru-RU" dirty="0" smtClean="0">
                <a:sym typeface="+mn-ea"/>
              </a:rPr>
              <a:t> (ФГОС)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lvl="0"/>
            <a:r>
              <a:rPr lang="ru-RU" dirty="0" smtClean="0"/>
              <a:t>использовать </a:t>
            </a:r>
            <a:r>
              <a:rPr lang="ru-RU" dirty="0"/>
              <a:t>выбранную систему контроля </a:t>
            </a:r>
            <a:r>
              <a:rPr lang="ru-RU" dirty="0" smtClean="0"/>
              <a:t>версий</a:t>
            </a:r>
            <a:r>
              <a:rPr lang="ru-RU" dirty="0"/>
              <a:t>,</a:t>
            </a:r>
            <a:endParaRPr lang="ru-RU" dirty="0" smtClean="0"/>
          </a:p>
          <a:p>
            <a:pPr lvl="0"/>
            <a:r>
              <a:rPr lang="ru-RU" dirty="0" smtClean="0"/>
              <a:t>использовать </a:t>
            </a:r>
            <a:r>
              <a:rPr lang="ru-RU" dirty="0"/>
              <a:t>методы для получения кода с заданной функциональностью и степенью качества</a:t>
            </a:r>
            <a:r>
              <a:rPr lang="ru-RU" dirty="0" smtClean="0"/>
              <a:t>.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Знания</a:t>
            </a:r>
            <a:r>
              <a:rPr lang="ru-RU" dirty="0" smtClean="0">
                <a:sym typeface="+mn-ea"/>
              </a:rPr>
              <a:t> (ФГОС)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lvl="1"/>
            <a:r>
              <a:rPr lang="ru-RU" dirty="0" smtClean="0"/>
              <a:t>модели </a:t>
            </a:r>
            <a:r>
              <a:rPr lang="ru-RU" dirty="0"/>
              <a:t>процесса разработки программного </a:t>
            </a:r>
            <a:r>
              <a:rPr lang="ru-RU" dirty="0" smtClean="0"/>
              <a:t>обеспечения,</a:t>
            </a:r>
          </a:p>
          <a:p>
            <a:pPr lvl="1"/>
            <a:r>
              <a:rPr lang="ru-RU" dirty="0" smtClean="0"/>
              <a:t>основные </a:t>
            </a:r>
            <a:r>
              <a:rPr lang="ru-RU" dirty="0"/>
              <a:t>принципы процесса разработки программного </a:t>
            </a:r>
            <a:r>
              <a:rPr lang="ru-RU" dirty="0" smtClean="0"/>
              <a:t>обеспечения,</a:t>
            </a:r>
          </a:p>
          <a:p>
            <a:pPr lvl="1"/>
            <a:r>
              <a:rPr lang="ru-RU" dirty="0" smtClean="0"/>
              <a:t>основные </a:t>
            </a:r>
            <a:r>
              <a:rPr lang="ru-RU" dirty="0"/>
              <a:t>подходы к интегрированию программных </a:t>
            </a:r>
            <a:r>
              <a:rPr lang="ru-RU" dirty="0" smtClean="0"/>
              <a:t>модулей,</a:t>
            </a:r>
          </a:p>
          <a:p>
            <a:pPr lvl="1"/>
            <a:r>
              <a:rPr lang="ru-RU" dirty="0" smtClean="0"/>
              <a:t>основы </a:t>
            </a:r>
            <a:r>
              <a:rPr lang="ru-RU" dirty="0"/>
              <a:t>верификации и аттестации программного обеспечения</a:t>
            </a:r>
            <a:endParaRPr lang="ru-RU" sz="1800" dirty="0" smtClean="0"/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Этапы выполнения КП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7500"/>
          </a:bodyPr>
          <a:lstStyle/>
          <a:p>
            <a:r>
              <a:rPr lang="ru-RU" sz="2300" dirty="0" smtClean="0"/>
              <a:t>2</a:t>
            </a:r>
            <a:r>
              <a:rPr lang="en-US" sz="2300" dirty="0" smtClean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r>
              <a:rPr lang="ru-RU" sz="2300" dirty="0" smtClean="0"/>
              <a:t>.10.202</a:t>
            </a:r>
            <a:r>
              <a:rPr lang="ru-RU" sz="2300" dirty="0"/>
              <a:t>6</a:t>
            </a:r>
            <a:r>
              <a:rPr lang="ru-RU" sz="2300" dirty="0" smtClean="0"/>
              <a:t> — постановка задачи и выбор темы,</a:t>
            </a:r>
          </a:p>
          <a:p>
            <a:r>
              <a:rPr lang="ru-RU" sz="2300" dirty="0" smtClean="0"/>
              <a:t>с </a:t>
            </a:r>
            <a:r>
              <a:rPr lang="en-US" sz="2300" dirty="0" smtClean="0">
                <a:latin typeface="Cambria" panose="02040503050406030204" pitchFamily="18" charset="0"/>
                <a:ea typeface="Cambria" panose="02040503050406030204" pitchFamily="18" charset="0"/>
              </a:rPr>
              <a:t>24</a:t>
            </a:r>
            <a:r>
              <a:rPr lang="ru-RU" sz="2300" dirty="0" smtClean="0"/>
              <a:t>.10.202</a:t>
            </a:r>
            <a:r>
              <a:rPr lang="ru-RU" sz="2300" dirty="0"/>
              <a:t>6</a:t>
            </a:r>
            <a:r>
              <a:rPr lang="ru-RU" sz="2300" dirty="0" smtClean="0"/>
              <a:t> по 31.10.202</a:t>
            </a:r>
            <a:r>
              <a:rPr lang="ru-RU" sz="2300" dirty="0"/>
              <a:t>6</a:t>
            </a:r>
            <a:r>
              <a:rPr lang="ru-RU" sz="2300" dirty="0" smtClean="0"/>
              <a:t> — сбор и анализ требований, </a:t>
            </a:r>
          </a:p>
          <a:p>
            <a:r>
              <a:rPr lang="ru-RU" sz="2300" dirty="0" smtClean="0"/>
              <a:t>с 01.11.202</a:t>
            </a:r>
            <a:r>
              <a:rPr lang="ru-RU" sz="2300" dirty="0"/>
              <a:t>6</a:t>
            </a:r>
            <a:r>
              <a:rPr lang="ru-RU" sz="2300" dirty="0" smtClean="0"/>
              <a:t> по 07.11.202</a:t>
            </a:r>
            <a:r>
              <a:rPr lang="ru-RU" sz="2300" dirty="0"/>
              <a:t>6</a:t>
            </a:r>
            <a:r>
              <a:rPr lang="ru-RU" sz="2300" dirty="0" smtClean="0"/>
              <a:t> — проектирование ПО,</a:t>
            </a:r>
          </a:p>
          <a:p>
            <a:r>
              <a:rPr lang="ru-RU" sz="2300" dirty="0" smtClean="0"/>
              <a:t>с 08.11.202</a:t>
            </a:r>
            <a:r>
              <a:rPr lang="ru-RU" sz="2300" dirty="0"/>
              <a:t>6</a:t>
            </a:r>
            <a:r>
              <a:rPr lang="ru-RU" sz="2300" dirty="0" smtClean="0"/>
              <a:t> по 2</a:t>
            </a:r>
            <a:r>
              <a:rPr lang="en-US" sz="2300" dirty="0" smtClean="0">
                <a:latin typeface="Cambria" panose="02040503050406030204" pitchFamily="18" charset="0"/>
                <a:ea typeface="Cambria" panose="02040503050406030204" pitchFamily="18" charset="0"/>
              </a:rPr>
              <a:t>8</a:t>
            </a:r>
            <a:r>
              <a:rPr lang="ru-RU" sz="2300" dirty="0" smtClean="0"/>
              <a:t>.11.202</a:t>
            </a:r>
            <a:r>
              <a:rPr lang="ru-RU" sz="2300" dirty="0"/>
              <a:t>6</a:t>
            </a:r>
            <a:r>
              <a:rPr lang="ru-RU" sz="2300" dirty="0" smtClean="0"/>
              <a:t> — разработка и интеграция модулей ПО,</a:t>
            </a:r>
          </a:p>
          <a:p>
            <a:r>
              <a:rPr lang="ru-RU" sz="2300" dirty="0"/>
              <a:t>с </a:t>
            </a:r>
            <a:r>
              <a:rPr lang="ru-RU" sz="2300" dirty="0" smtClean="0"/>
              <a:t>2</a:t>
            </a:r>
            <a:r>
              <a:rPr lang="en-US" sz="2300" dirty="0" smtClean="0">
                <a:latin typeface="Cambria" panose="02040503050406030204" pitchFamily="18" charset="0"/>
                <a:ea typeface="Cambria" panose="02040503050406030204" pitchFamily="18" charset="0"/>
              </a:rPr>
              <a:t>9</a:t>
            </a:r>
            <a:r>
              <a:rPr lang="ru-RU" sz="2300" dirty="0" smtClean="0"/>
              <a:t>.11.202</a:t>
            </a:r>
            <a:r>
              <a:rPr lang="ru-RU" sz="2300" dirty="0"/>
              <a:t>6</a:t>
            </a:r>
            <a:r>
              <a:rPr lang="ru-RU" sz="2300" dirty="0" smtClean="0"/>
              <a:t> </a:t>
            </a:r>
            <a:r>
              <a:rPr lang="ru-RU" sz="2300" dirty="0"/>
              <a:t>по </a:t>
            </a:r>
            <a:r>
              <a:rPr lang="ru-RU" sz="2300" dirty="0" smtClean="0"/>
              <a:t>05.12.202</a:t>
            </a:r>
            <a:r>
              <a:rPr lang="ru-RU" sz="2300" dirty="0"/>
              <a:t>6</a:t>
            </a:r>
            <a:r>
              <a:rPr lang="ru-RU" sz="2300" dirty="0" smtClean="0"/>
              <a:t> </a:t>
            </a:r>
            <a:r>
              <a:rPr lang="ru-RU" sz="2300" dirty="0"/>
              <a:t>— </a:t>
            </a:r>
            <a:r>
              <a:rPr lang="ru-RU" sz="2300" dirty="0" smtClean="0"/>
              <a:t>тестирование и отладка </a:t>
            </a:r>
            <a:r>
              <a:rPr lang="ru-RU" sz="2300" dirty="0"/>
              <a:t>ПО,</a:t>
            </a:r>
          </a:p>
          <a:p>
            <a:r>
              <a:rPr lang="ru-RU" sz="2300" dirty="0" smtClean="0"/>
              <a:t>с </a:t>
            </a:r>
            <a:r>
              <a:rPr lang="en-US" sz="2300" dirty="0">
                <a:latin typeface="Cambria" panose="02040503050406030204" pitchFamily="18" charset="0"/>
                <a:ea typeface="Cambria" panose="02040503050406030204" pitchFamily="18" charset="0"/>
              </a:rPr>
              <a:t>24</a:t>
            </a:r>
            <a:r>
              <a:rPr lang="ru-RU" sz="2300" dirty="0" smtClean="0"/>
              <a:t>.10.202</a:t>
            </a:r>
            <a:r>
              <a:rPr lang="ru-RU" sz="2300" dirty="0"/>
              <a:t>6</a:t>
            </a:r>
            <a:r>
              <a:rPr lang="ru-RU" sz="2300" dirty="0" smtClean="0"/>
              <a:t> </a:t>
            </a:r>
            <a:r>
              <a:rPr lang="ru-RU" sz="2300" dirty="0"/>
              <a:t>по </a:t>
            </a:r>
            <a:r>
              <a:rPr lang="ru-RU" sz="2300" dirty="0" smtClean="0"/>
              <a:t>07.12.202</a:t>
            </a:r>
            <a:r>
              <a:rPr lang="ru-RU" sz="2300" dirty="0"/>
              <a:t>6</a:t>
            </a:r>
            <a:r>
              <a:rPr lang="ru-RU" sz="2300" dirty="0" smtClean="0"/>
              <a:t> — написание и проверка программной документации, оформление пояснительной записки, </a:t>
            </a:r>
          </a:p>
          <a:p>
            <a:r>
              <a:rPr lang="ru-RU" sz="2300" dirty="0" smtClean="0"/>
              <a:t>08.12.202</a:t>
            </a:r>
            <a:r>
              <a:rPr lang="ru-RU" sz="2300" dirty="0"/>
              <a:t>6</a:t>
            </a:r>
            <a:r>
              <a:rPr lang="ru-RU" sz="2300" dirty="0" smtClean="0"/>
              <a:t> — сдача курсового проекта на проверку, </a:t>
            </a:r>
          </a:p>
          <a:p>
            <a:r>
              <a:rPr lang="ru-RU" sz="2300" dirty="0" smtClean="0"/>
              <a:t>0</a:t>
            </a:r>
            <a:r>
              <a:rPr lang="en-US" sz="2300" dirty="0" smtClean="0">
                <a:latin typeface="Cambria" panose="02040503050406030204" pitchFamily="18" charset="0"/>
                <a:ea typeface="Cambria" panose="02040503050406030204" pitchFamily="18" charset="0"/>
              </a:rPr>
              <a:t>9</a:t>
            </a:r>
            <a:r>
              <a:rPr lang="ru-RU" sz="2300" dirty="0" smtClean="0"/>
              <a:t>.12.202</a:t>
            </a:r>
            <a:r>
              <a:rPr lang="ru-RU" sz="2300" dirty="0"/>
              <a:t>6</a:t>
            </a:r>
            <a:r>
              <a:rPr lang="ru-RU" sz="2300" dirty="0" smtClean="0"/>
              <a:t> — защита курсового проекта.</a:t>
            </a:r>
            <a:endParaRPr lang="ru-RU" sz="2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Отправка работы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7500"/>
          </a:bodyPr>
          <a:lstStyle/>
          <a:p>
            <a:pPr marL="0" indent="0">
              <a:buNone/>
            </a:pPr>
            <a:r>
              <a:rPr lang="ru-RU" dirty="0" smtClean="0"/>
              <a:t>Для отправки использовать</a:t>
            </a:r>
            <a:r>
              <a:rPr lang="en-US" dirty="0" smtClean="0"/>
              <a:t> </a:t>
            </a:r>
            <a:r>
              <a:rPr lang="ru-RU" dirty="0" smtClean="0"/>
              <a:t>онлайн-</a:t>
            </a:r>
            <a:r>
              <a:rPr lang="ru-RU" dirty="0" err="1" smtClean="0"/>
              <a:t>репозиторий</a:t>
            </a:r>
            <a:r>
              <a:rPr lang="ru-RU" dirty="0" smtClean="0"/>
              <a:t> (например: </a:t>
            </a:r>
            <a:r>
              <a:rPr lang="en-US" dirty="0" smtClean="0"/>
              <a:t>gitverse.ru</a:t>
            </a:r>
            <a:r>
              <a:rPr lang="ru-RU" dirty="0" smtClean="0"/>
              <a:t> /</a:t>
            </a:r>
            <a:r>
              <a:rPr lang="en-US" dirty="0" smtClean="0"/>
              <a:t> github.com </a:t>
            </a:r>
            <a:r>
              <a:rPr lang="ru-RU" dirty="0" smtClean="0"/>
              <a:t>/ </a:t>
            </a:r>
            <a:r>
              <a:rPr lang="en-US" dirty="0" smtClean="0"/>
              <a:t>bitbucket.org</a:t>
            </a:r>
            <a:r>
              <a:rPr lang="ru-RU" dirty="0" smtClean="0"/>
              <a:t> </a:t>
            </a:r>
            <a:r>
              <a:rPr lang="ru-RU" dirty="0" smtClean="0"/>
              <a:t>и </a:t>
            </a:r>
            <a:r>
              <a:rPr lang="ru-RU" dirty="0" smtClean="0"/>
              <a:t>т.д.)</a:t>
            </a:r>
            <a:r>
              <a:rPr lang="en-US" dirty="0" smtClean="0"/>
              <a:t>:</a:t>
            </a:r>
          </a:p>
          <a:p>
            <a:pPr>
              <a:buFontTx/>
              <a:buChar char="-"/>
            </a:pPr>
            <a:r>
              <a:rPr lang="ru-RU" dirty="0" smtClean="0"/>
              <a:t>создать </a:t>
            </a:r>
            <a:r>
              <a:rPr lang="ru-RU" dirty="0" err="1" smtClean="0"/>
              <a:t>репозиторий</a:t>
            </a:r>
            <a:r>
              <a:rPr lang="ru-RU" dirty="0" smtClean="0"/>
              <a:t> </a:t>
            </a:r>
            <a:r>
              <a:rPr lang="en-US" dirty="0" err="1" smtClean="0"/>
              <a:t>CourseProject</a:t>
            </a:r>
            <a:r>
              <a:rPr lang="ru-RU" dirty="0" smtClean="0"/>
              <a:t> и предоставить доступ на чтение,</a:t>
            </a:r>
          </a:p>
          <a:p>
            <a:pPr>
              <a:buFontTx/>
              <a:buChar char="-"/>
            </a:pPr>
            <a:r>
              <a:rPr lang="ru-RU" dirty="0" smtClean="0"/>
              <a:t>в </a:t>
            </a:r>
            <a:r>
              <a:rPr lang="ru-RU" dirty="0" err="1" smtClean="0"/>
              <a:t>репозитории</a:t>
            </a:r>
            <a:r>
              <a:rPr lang="ru-RU" dirty="0" smtClean="0"/>
              <a:t> должны быть все исходники, скрипты для создания объектов БД, необходимые для </a:t>
            </a:r>
            <a:r>
              <a:rPr lang="ru-RU" dirty="0"/>
              <a:t>импорта</a:t>
            </a:r>
            <a:r>
              <a:rPr lang="ru-RU" dirty="0" smtClean="0"/>
              <a:t> и развертывания файлы,</a:t>
            </a:r>
          </a:p>
          <a:p>
            <a:pPr>
              <a:buFontTx/>
              <a:buChar char="-"/>
            </a:pPr>
            <a:r>
              <a:rPr lang="ru-RU" dirty="0"/>
              <a:t>документацию загружать </a:t>
            </a:r>
            <a:r>
              <a:rPr lang="ru-RU" dirty="0" smtClean="0"/>
              <a:t>в </a:t>
            </a:r>
            <a:r>
              <a:rPr lang="ru-RU" dirty="0" err="1" smtClean="0"/>
              <a:t>репозиторий</a:t>
            </a:r>
            <a:r>
              <a:rPr lang="ru-RU" dirty="0" smtClean="0"/>
              <a:t> в </a:t>
            </a:r>
            <a:r>
              <a:rPr lang="ru-RU" dirty="0"/>
              <a:t>двух форматах: текстовом </a:t>
            </a:r>
            <a:r>
              <a:rPr lang="en-US" dirty="0"/>
              <a:t>(</a:t>
            </a:r>
            <a:r>
              <a:rPr lang="en-US" dirty="0" err="1"/>
              <a:t>docx</a:t>
            </a:r>
            <a:r>
              <a:rPr lang="en-US" dirty="0"/>
              <a:t> </a:t>
            </a:r>
            <a:r>
              <a:rPr lang="ru-RU" dirty="0"/>
              <a:t>или </a:t>
            </a:r>
            <a:r>
              <a:rPr lang="en-US" dirty="0" err="1"/>
              <a:t>odt</a:t>
            </a:r>
            <a:r>
              <a:rPr lang="en-US" dirty="0"/>
              <a:t>)</a:t>
            </a:r>
            <a:r>
              <a:rPr lang="ru-RU" dirty="0"/>
              <a:t> и в </a:t>
            </a:r>
            <a:r>
              <a:rPr lang="en-US" dirty="0" smtClean="0"/>
              <a:t>pdf</a:t>
            </a:r>
            <a:r>
              <a:rPr lang="ru-RU" dirty="0" smtClean="0"/>
              <a:t> (можно в отдельную ветку).</a:t>
            </a:r>
            <a:endParaRPr lang="en-US" dirty="0" smtClean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72056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Оформление пояснительной записки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Пояснительная записка </a:t>
            </a:r>
            <a:r>
              <a:rPr lang="ru-RU" u="sng" dirty="0" smtClean="0"/>
              <a:t>оформляется согласно стандарту</a:t>
            </a:r>
            <a:r>
              <a:rPr lang="ru-RU" dirty="0" smtClean="0"/>
              <a:t>, принятому в колледже (</a:t>
            </a:r>
            <a:r>
              <a:rPr lang="en-US" u="sng" dirty="0">
                <a:hlinkClick r:id="rId2"/>
              </a:rPr>
              <a:t>https://</a:t>
            </a:r>
            <a:r>
              <a:rPr lang="en-US" u="sng" dirty="0" smtClean="0">
                <a:hlinkClick r:id="rId2"/>
              </a:rPr>
              <a:t>arcotel.ru/new_site/images/upload/studentam/metodicheskaya-literatura/Sto2025.pdf</a:t>
            </a:r>
            <a:r>
              <a:rPr lang="ru-RU" dirty="0" smtClean="0"/>
              <a:t>)</a:t>
            </a:r>
          </a:p>
          <a:p>
            <a:r>
              <a:rPr lang="ru-RU" dirty="0" smtClean="0"/>
              <a:t>Титульный лист </a:t>
            </a:r>
            <a:r>
              <a:rPr lang="ru-RU" u="sng" dirty="0" smtClean="0"/>
              <a:t>подписывается студентом</a:t>
            </a:r>
            <a:r>
              <a:rPr lang="ru-RU" dirty="0" smtClean="0"/>
              <a:t> и </a:t>
            </a:r>
            <a:r>
              <a:rPr lang="ru-RU" u="sng" dirty="0" smtClean="0"/>
              <a:t>преподавателем</a:t>
            </a:r>
            <a:r>
              <a:rPr lang="ru-RU" dirty="0" smtClean="0"/>
              <a:t> (</a:t>
            </a:r>
            <a:r>
              <a:rPr lang="en-US" dirty="0">
                <a:hlinkClick r:id="rId3"/>
              </a:rPr>
              <a:t>https://</a:t>
            </a:r>
            <a:r>
              <a:rPr lang="en-US" dirty="0" smtClean="0">
                <a:hlinkClick r:id="rId3"/>
              </a:rPr>
              <a:t>arcotel.ru/studentam/metodicheskaya-literatura</a:t>
            </a:r>
            <a:r>
              <a:rPr lang="ru-RU" dirty="0" smtClean="0"/>
              <a:t>)</a:t>
            </a:r>
          </a:p>
          <a:p>
            <a:r>
              <a:rPr lang="ru-RU" dirty="0" smtClean="0"/>
              <a:t>Лист задания на КП </a:t>
            </a:r>
            <a:r>
              <a:rPr lang="ru-RU" u="sng" dirty="0"/>
              <a:t>двусторонний</a:t>
            </a:r>
            <a:r>
              <a:rPr lang="ru-RU" dirty="0"/>
              <a:t> </a:t>
            </a:r>
            <a:r>
              <a:rPr lang="ru-RU" dirty="0" smtClean="0"/>
              <a:t>(</a:t>
            </a:r>
            <a:r>
              <a:rPr lang="en-US" dirty="0">
                <a:hlinkClick r:id="rId3"/>
              </a:rPr>
              <a:t>https://</a:t>
            </a:r>
            <a:r>
              <a:rPr lang="en-US" dirty="0" smtClean="0">
                <a:hlinkClick r:id="rId3"/>
              </a:rPr>
              <a:t>arcotel.ru/studentam/metodicheskaya-literatura</a:t>
            </a:r>
            <a:r>
              <a:rPr lang="ru-RU" dirty="0" smtClean="0"/>
              <a:t>), </a:t>
            </a:r>
            <a:r>
              <a:rPr lang="ru-RU" u="sng" dirty="0" smtClean="0"/>
              <a:t>подписывается</a:t>
            </a:r>
            <a:r>
              <a:rPr lang="ru-RU" dirty="0" smtClean="0"/>
              <a:t> </a:t>
            </a:r>
            <a:r>
              <a:rPr lang="ru-RU" u="sng" dirty="0" smtClean="0"/>
              <a:t>студентом</a:t>
            </a:r>
            <a:r>
              <a:rPr lang="ru-RU" dirty="0" smtClean="0"/>
              <a:t>, </a:t>
            </a:r>
            <a:r>
              <a:rPr lang="ru-RU" u="sng" dirty="0" smtClean="0"/>
              <a:t>преподавателем</a:t>
            </a:r>
            <a:r>
              <a:rPr lang="ru-RU" dirty="0" smtClean="0"/>
              <a:t> и </a:t>
            </a:r>
            <a:r>
              <a:rPr lang="ru-RU" u="sng" dirty="0" smtClean="0"/>
              <a:t>зав. отделением</a:t>
            </a:r>
            <a:r>
              <a:rPr lang="ru-RU" dirty="0" smtClean="0"/>
              <a:t> </a:t>
            </a:r>
          </a:p>
          <a:p>
            <a:r>
              <a:rPr lang="ru-RU" dirty="0" smtClean="0"/>
              <a:t>Объем всей ПЗ, включая титульный лист, должен составлять </a:t>
            </a:r>
            <a:r>
              <a:rPr lang="ru-RU" u="sng" dirty="0" smtClean="0"/>
              <a:t>30-40 листов</a:t>
            </a:r>
            <a:r>
              <a:rPr lang="ru-RU" dirty="0" smtClean="0"/>
              <a:t> (лист задания и приложения не учитываются)</a:t>
            </a:r>
          </a:p>
          <a:p>
            <a:endParaRPr lang="ru-RU" dirty="0" smtClean="0"/>
          </a:p>
          <a:p>
            <a:endParaRPr lang="ru-RU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USB-</a:t>
            </a:r>
            <a:r>
              <a:rPr lang="ru-RU" dirty="0" err="1" smtClean="0"/>
              <a:t>флешка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7772400" cy="4933528"/>
          </a:xfrm>
        </p:spPr>
        <p:txBody>
          <a:bodyPr>
            <a:normAutofit fontScale="77500" lnSpcReduction="20000"/>
          </a:bodyPr>
          <a:lstStyle/>
          <a:p>
            <a:pPr lvl="0"/>
            <a:r>
              <a:rPr lang="ru-RU" dirty="0" smtClean="0"/>
              <a:t>пояснительная записка в форматах .</a:t>
            </a:r>
            <a:r>
              <a:rPr lang="en-US" dirty="0" err="1" smtClean="0"/>
              <a:t>docx</a:t>
            </a:r>
            <a:r>
              <a:rPr lang="en-US" dirty="0" smtClean="0"/>
              <a:t>/.</a:t>
            </a:r>
            <a:r>
              <a:rPr lang="en-US" dirty="0" err="1" smtClean="0"/>
              <a:t>odt</a:t>
            </a:r>
            <a:r>
              <a:rPr lang="en-US" dirty="0" smtClean="0"/>
              <a:t> </a:t>
            </a:r>
            <a:r>
              <a:rPr lang="ru-RU" dirty="0" smtClean="0"/>
              <a:t>и .</a:t>
            </a:r>
            <a:r>
              <a:rPr lang="ru-RU" dirty="0" err="1" smtClean="0"/>
              <a:t>pdf</a:t>
            </a:r>
            <a:r>
              <a:rPr lang="ru-RU" dirty="0" smtClean="0"/>
              <a:t>. Отсканированные титульный лист и лист задания с подписями должны быть вставлены в файлы с пояснительной запиской,</a:t>
            </a:r>
          </a:p>
          <a:p>
            <a:pPr lvl="0"/>
            <a:r>
              <a:rPr lang="ru-RU" dirty="0" smtClean="0"/>
              <a:t>все исходные файлы приложения,</a:t>
            </a:r>
          </a:p>
          <a:p>
            <a:pPr lvl="0"/>
            <a:r>
              <a:rPr lang="ru-RU" dirty="0"/>
              <a:t>скрипт в формате .</a:t>
            </a:r>
            <a:r>
              <a:rPr lang="en-US" dirty="0"/>
              <a:t>sql </a:t>
            </a:r>
            <a:r>
              <a:rPr lang="ru-RU" dirty="0" smtClean="0"/>
              <a:t>или миграция </a:t>
            </a:r>
            <a:r>
              <a:rPr lang="ru-RU" altLang="en-US" dirty="0" smtClean="0"/>
              <a:t>для </a:t>
            </a:r>
            <a:r>
              <a:rPr lang="ru-RU" dirty="0"/>
              <a:t>создания БД и ее </a:t>
            </a:r>
            <a:r>
              <a:rPr lang="ru-RU" dirty="0" smtClean="0"/>
              <a:t>объектов,</a:t>
            </a:r>
            <a:endParaRPr lang="ru-RU" dirty="0"/>
          </a:p>
          <a:p>
            <a:pPr lvl="0"/>
            <a:r>
              <a:rPr lang="ru-RU" dirty="0" smtClean="0"/>
              <a:t>данные для импорта (скрипт </a:t>
            </a:r>
            <a:r>
              <a:rPr lang="ru-RU" dirty="0">
                <a:sym typeface="+mn-ea"/>
              </a:rPr>
              <a:t>в формате .</a:t>
            </a:r>
            <a:r>
              <a:rPr lang="en-US" dirty="0" err="1">
                <a:sym typeface="+mn-ea"/>
              </a:rPr>
              <a:t>sql</a:t>
            </a:r>
            <a:r>
              <a:rPr lang="en-US" dirty="0">
                <a:sym typeface="+mn-ea"/>
              </a:rPr>
              <a:t> </a:t>
            </a:r>
            <a:r>
              <a:rPr lang="ru-RU" dirty="0"/>
              <a:t>для заполнения таблиц и/или файлы </a:t>
            </a:r>
            <a:r>
              <a:rPr lang="ru-RU" dirty="0">
                <a:sym typeface="+mn-ea"/>
              </a:rPr>
              <a:t>в формате </a:t>
            </a:r>
            <a:r>
              <a:rPr lang="en-US" altLang="ru-RU" dirty="0">
                <a:sym typeface="+mn-ea"/>
              </a:rPr>
              <a:t>.csv / </a:t>
            </a:r>
            <a:r>
              <a:rPr lang="ru-RU" dirty="0">
                <a:sym typeface="+mn-ea"/>
              </a:rPr>
              <a:t>.</a:t>
            </a:r>
            <a:r>
              <a:rPr lang="en-US" dirty="0" err="1">
                <a:sym typeface="+mn-ea"/>
              </a:rPr>
              <a:t>xlsx</a:t>
            </a:r>
            <a:r>
              <a:rPr lang="en-US" dirty="0">
                <a:sym typeface="+mn-ea"/>
              </a:rPr>
              <a:t> </a:t>
            </a:r>
            <a:r>
              <a:rPr lang="ru-RU" dirty="0" smtClean="0">
                <a:sym typeface="+mn-ea"/>
              </a:rPr>
              <a:t>и/или миграция </a:t>
            </a:r>
            <a:r>
              <a:rPr lang="ru-RU" dirty="0" smtClean="0"/>
              <a:t>для </a:t>
            </a:r>
            <a:r>
              <a:rPr lang="ru-RU" dirty="0"/>
              <a:t>импорта </a:t>
            </a:r>
            <a:r>
              <a:rPr lang="ru-RU" dirty="0" smtClean="0"/>
              <a:t>данных),</a:t>
            </a:r>
            <a:endParaRPr lang="ru-RU" dirty="0"/>
          </a:p>
          <a:p>
            <a:pPr lvl="0"/>
            <a:r>
              <a:rPr lang="ru-RU" dirty="0" smtClean="0"/>
              <a:t>инструкция по развертыванию системы,</a:t>
            </a:r>
          </a:p>
          <a:p>
            <a:pPr lvl="0"/>
            <a:r>
              <a:rPr lang="ru-RU" dirty="0"/>
              <a:t>руководство </a:t>
            </a:r>
            <a:r>
              <a:rPr lang="ru-RU" dirty="0" smtClean="0"/>
              <a:t>пользователя с описанием </a:t>
            </a:r>
            <a:r>
              <a:rPr lang="ru-RU" u="sng" dirty="0" smtClean="0"/>
              <a:t>всех</a:t>
            </a:r>
            <a:r>
              <a:rPr lang="ru-RU" dirty="0" smtClean="0"/>
              <a:t> возможностей системы (</a:t>
            </a:r>
            <a:r>
              <a:rPr lang="en-US" dirty="0" smtClean="0"/>
              <a:t>.pdf/.html</a:t>
            </a:r>
            <a:r>
              <a:rPr lang="ru-RU" dirty="0" smtClean="0"/>
              <a:t>),</a:t>
            </a:r>
          </a:p>
          <a:p>
            <a:pPr lvl="0"/>
            <a:r>
              <a:rPr lang="ru-RU" dirty="0" smtClean="0"/>
              <a:t>для </a:t>
            </a:r>
            <a:r>
              <a:rPr lang="en-US" dirty="0" smtClean="0"/>
              <a:t>portable-</a:t>
            </a:r>
            <a:r>
              <a:rPr lang="ru-RU" dirty="0" smtClean="0"/>
              <a:t>приложений – файл приложения с ресурсами, требующимися для работы,</a:t>
            </a:r>
          </a:p>
          <a:p>
            <a:pPr lvl="0"/>
            <a:r>
              <a:rPr lang="ru-RU" dirty="0" smtClean="0"/>
              <a:t>для устанавливаемого приложения: </a:t>
            </a:r>
            <a:r>
              <a:rPr lang="ru-RU" dirty="0" err="1" smtClean="0"/>
              <a:t>инсталлер</a:t>
            </a:r>
            <a:r>
              <a:rPr lang="ru-RU" dirty="0" smtClean="0"/>
              <a:t>,</a:t>
            </a:r>
          </a:p>
          <a:p>
            <a:pPr lvl="0"/>
            <a:r>
              <a:rPr lang="en-US" dirty="0"/>
              <a:t>D</a:t>
            </a:r>
            <a:r>
              <a:rPr lang="en-US" dirty="0" smtClean="0"/>
              <a:t>ocker</a:t>
            </a:r>
            <a:r>
              <a:rPr lang="ru-RU" dirty="0" smtClean="0"/>
              <a:t> </a:t>
            </a:r>
            <a:r>
              <a:rPr lang="en-US" dirty="0" smtClean="0"/>
              <a:t>(</a:t>
            </a:r>
            <a:r>
              <a:rPr lang="ru-RU" dirty="0" smtClean="0"/>
              <a:t>если написан).</a:t>
            </a:r>
          </a:p>
          <a:p>
            <a:pPr lvl="0"/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Содержимое ПЗ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8050088" cy="4572000"/>
          </a:xfrm>
        </p:spPr>
        <p:txBody>
          <a:bodyPr>
            <a:normAutofit fontScale="77500" lnSpcReduction="20000"/>
          </a:bodyPr>
          <a:lstStyle/>
          <a:p>
            <a:r>
              <a:rPr lang="ru-RU" dirty="0" smtClean="0"/>
              <a:t>Титульный лист </a:t>
            </a:r>
          </a:p>
          <a:p>
            <a:r>
              <a:rPr lang="ru-RU" dirty="0" smtClean="0"/>
              <a:t>Лист задания </a:t>
            </a:r>
            <a:r>
              <a:rPr lang="ru-RU" i="1" dirty="0" smtClean="0"/>
              <a:t>(двусторонний, в нумерации не участвует)</a:t>
            </a:r>
          </a:p>
          <a:p>
            <a:r>
              <a:rPr lang="ru-RU" dirty="0" smtClean="0"/>
              <a:t>Содержание</a:t>
            </a:r>
          </a:p>
          <a:p>
            <a:r>
              <a:rPr lang="ru-RU" dirty="0" smtClean="0"/>
              <a:t>Перечень сокращений и обозначений </a:t>
            </a:r>
          </a:p>
          <a:p>
            <a:r>
              <a:rPr lang="ru-RU" dirty="0" smtClean="0"/>
              <a:t>Введение </a:t>
            </a:r>
          </a:p>
          <a:p>
            <a:r>
              <a:rPr lang="ru-RU" dirty="0" smtClean="0"/>
              <a:t>1 Анализ и разработка требований</a:t>
            </a:r>
          </a:p>
          <a:p>
            <a:r>
              <a:rPr lang="ru-RU" dirty="0" smtClean="0"/>
              <a:t>2 Проектирование программного обеспечения</a:t>
            </a:r>
          </a:p>
          <a:p>
            <a:r>
              <a:rPr lang="ru-RU" dirty="0" smtClean="0">
                <a:sym typeface="+mn-ea"/>
              </a:rPr>
              <a:t>3 Разработка </a:t>
            </a:r>
            <a:r>
              <a:rPr lang="ru-RU" dirty="0" smtClean="0"/>
              <a:t>программного </a:t>
            </a:r>
            <a:r>
              <a:rPr lang="ru-RU" dirty="0"/>
              <a:t>обеспечения</a:t>
            </a:r>
            <a:endParaRPr lang="ru-RU" dirty="0" smtClean="0"/>
          </a:p>
          <a:p>
            <a:r>
              <a:rPr lang="ru-RU" dirty="0" smtClean="0"/>
              <a:t>4 Тестирование и отладка </a:t>
            </a:r>
            <a:r>
              <a:rPr lang="ru-RU" dirty="0"/>
              <a:t>программного обеспечения</a:t>
            </a:r>
            <a:endParaRPr lang="ru-RU" dirty="0" smtClean="0"/>
          </a:p>
          <a:p>
            <a:r>
              <a:rPr lang="ru-RU" dirty="0" smtClean="0"/>
              <a:t>5 Инструкция по </a:t>
            </a:r>
            <a:r>
              <a:rPr lang="ru-RU" dirty="0"/>
              <a:t>эксплуатации программного обеспечения</a:t>
            </a:r>
            <a:endParaRPr lang="ru-RU" dirty="0" smtClean="0"/>
          </a:p>
          <a:p>
            <a:r>
              <a:rPr lang="ru-RU" dirty="0" smtClean="0"/>
              <a:t>Заключение</a:t>
            </a:r>
          </a:p>
          <a:p>
            <a:r>
              <a:rPr lang="ru-RU" dirty="0" smtClean="0"/>
              <a:t>Список использованных источников </a:t>
            </a:r>
            <a:r>
              <a:rPr lang="ru-RU" i="1" dirty="0" smtClean="0"/>
              <a:t>(на все – ссылки в ПЗ в </a:t>
            </a:r>
            <a:r>
              <a:rPr lang="en-US" i="1" dirty="0" smtClean="0"/>
              <a:t>[…]</a:t>
            </a:r>
            <a:r>
              <a:rPr lang="ru-RU" i="1" dirty="0" smtClean="0"/>
              <a:t>)</a:t>
            </a:r>
            <a:endParaRPr lang="ru-RU" i="1" dirty="0"/>
          </a:p>
          <a:p>
            <a:r>
              <a:rPr lang="ru-RU" dirty="0" smtClean="0"/>
              <a:t>Приложение </a:t>
            </a:r>
            <a:r>
              <a:rPr lang="ru-RU" i="1" dirty="0" smtClean="0"/>
              <a:t>(опционально)</a:t>
            </a:r>
          </a:p>
          <a:p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1 </a:t>
            </a:r>
            <a:r>
              <a:rPr lang="ru-RU" dirty="0"/>
              <a:t>Анализ и разработка требований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b="1" dirty="0" smtClean="0"/>
              <a:t>1.1 Назначение </a:t>
            </a:r>
            <a:r>
              <a:rPr lang="ru-RU" b="1" dirty="0"/>
              <a:t>и область </a:t>
            </a:r>
            <a:r>
              <a:rPr lang="ru-RU" b="1" dirty="0" smtClean="0"/>
              <a:t>применения</a:t>
            </a:r>
          </a:p>
          <a:p>
            <a:pPr marL="0" indent="0">
              <a:buNone/>
            </a:pPr>
            <a:r>
              <a:rPr lang="ru-RU" dirty="0" smtClean="0"/>
              <a:t>Указать, кто будет пользователями и для чего будет использоваться приложение</a:t>
            </a:r>
          </a:p>
          <a:p>
            <a:r>
              <a:rPr lang="ru-RU" b="1" dirty="0" smtClean="0"/>
              <a:t>1.2 Постановка задачи</a:t>
            </a:r>
          </a:p>
          <a:p>
            <a:pPr marL="0" indent="0">
              <a:buNone/>
            </a:pPr>
            <a:r>
              <a:rPr lang="ru-RU" dirty="0" smtClean="0"/>
              <a:t>Кратко описать ПО (какой будет тип приложения (</a:t>
            </a:r>
            <a:r>
              <a:rPr lang="ru-RU" dirty="0" smtClean="0"/>
              <a:t>оконное/веб/мобильное, </a:t>
            </a:r>
            <a:r>
              <a:rPr lang="ru-RU" dirty="0" smtClean="0"/>
              <a:t>его основная функциональность, эксплуатационные требования к интерфейсу и защите данных). Этот же текст может использоваться в листе задания.</a:t>
            </a:r>
          </a:p>
          <a:p>
            <a:pPr marL="0" indent="0">
              <a:buNone/>
            </a:pPr>
            <a:r>
              <a:rPr lang="ru-RU" dirty="0" smtClean="0"/>
              <a:t>Указать все доступные функции, каким категориям какие действия доступны, как должно запускаться приложение.</a:t>
            </a:r>
            <a:endParaRPr lang="ru-RU" b="1" dirty="0" smtClean="0"/>
          </a:p>
          <a:p>
            <a:r>
              <a:rPr lang="ru-RU" b="1" dirty="0" smtClean="0"/>
              <a:t>1.3 Выбор состава программных и технических средств</a:t>
            </a:r>
          </a:p>
          <a:p>
            <a:pPr marL="0" indent="0">
              <a:buNone/>
            </a:pPr>
            <a:r>
              <a:rPr lang="ru-RU" dirty="0" smtClean="0"/>
              <a:t>Аргументировать выбор средств разработки и программные и аппаратные требования к клиенту и серверу для запуска разработанного ПО.</a:t>
            </a:r>
            <a:endParaRPr lang="ru-RU" dirty="0"/>
          </a:p>
          <a:p>
            <a:pPr marL="0" indent="0">
              <a:buNone/>
            </a:pPr>
            <a:endParaRPr lang="ru-RU" dirty="0" smtClean="0"/>
          </a:p>
          <a:p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2 Проектирование ПО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Autofit/>
          </a:bodyPr>
          <a:lstStyle/>
          <a:p>
            <a:r>
              <a:rPr lang="ru-RU" sz="2100" b="1" dirty="0"/>
              <a:t>2.1 Проектирование интерфейса </a:t>
            </a:r>
            <a:r>
              <a:rPr lang="ru-RU" sz="2100" b="1" dirty="0" smtClean="0"/>
              <a:t>пользователя</a:t>
            </a:r>
          </a:p>
          <a:p>
            <a:pPr marL="0" indent="0">
              <a:buNone/>
            </a:pPr>
            <a:r>
              <a:rPr lang="ru-RU" sz="2100" dirty="0" smtClean="0"/>
              <a:t>Здесь:</a:t>
            </a:r>
            <a:endParaRPr lang="en-US" sz="2100" dirty="0" smtClean="0"/>
          </a:p>
          <a:p>
            <a:pPr>
              <a:buFontTx/>
              <a:buChar char="-"/>
            </a:pPr>
            <a:r>
              <a:rPr lang="ru-RU" sz="2100" dirty="0" smtClean="0"/>
              <a:t>изображения каркасов (</a:t>
            </a:r>
            <a:r>
              <a:rPr lang="en-US" sz="2100" dirty="0" smtClean="0"/>
              <a:t>wireframe</a:t>
            </a:r>
            <a:r>
              <a:rPr lang="ru-RU" sz="2100" dirty="0" smtClean="0"/>
              <a:t>)</a:t>
            </a:r>
            <a:r>
              <a:rPr lang="en-US" sz="2100" dirty="0" smtClean="0"/>
              <a:t> </a:t>
            </a:r>
            <a:r>
              <a:rPr lang="ru-RU" sz="2100" dirty="0" smtClean="0"/>
              <a:t>и/или </a:t>
            </a:r>
            <a:r>
              <a:rPr lang="ru-RU" sz="2100" dirty="0" err="1" smtClean="0"/>
              <a:t>мокапов</a:t>
            </a:r>
            <a:endParaRPr lang="ru-RU" sz="2100" dirty="0" smtClean="0"/>
          </a:p>
          <a:p>
            <a:pPr>
              <a:buFontTx/>
              <a:buChar char="-"/>
            </a:pPr>
            <a:r>
              <a:rPr lang="ru-RU" sz="2100" dirty="0" smtClean="0"/>
              <a:t>перечисление выбранных цветов, шрифтов, сторонних иконок</a:t>
            </a:r>
          </a:p>
          <a:p>
            <a:r>
              <a:rPr lang="ru-RU" sz="2100" b="1" dirty="0" smtClean="0"/>
              <a:t>2.2 Разработка архитектуры программного обеспечения</a:t>
            </a:r>
            <a:endParaRPr lang="ru-RU" sz="2100" dirty="0" smtClean="0"/>
          </a:p>
          <a:p>
            <a:pPr marL="0" indent="0">
              <a:buNone/>
            </a:pPr>
            <a:r>
              <a:rPr lang="ru-RU" sz="2100" dirty="0" smtClean="0"/>
              <a:t>Здесь</a:t>
            </a:r>
            <a:r>
              <a:rPr lang="ru-RU" sz="2100" dirty="0"/>
              <a:t>: </a:t>
            </a:r>
            <a:endParaRPr lang="en-US" sz="2100" dirty="0"/>
          </a:p>
          <a:p>
            <a:pPr>
              <a:buFontTx/>
              <a:buChar char="-"/>
            </a:pPr>
            <a:r>
              <a:rPr lang="ru-RU" sz="2100" dirty="0"/>
              <a:t>структурные диаграмм (диаграмма </a:t>
            </a:r>
            <a:r>
              <a:rPr lang="ru-RU" sz="2100" dirty="0" smtClean="0"/>
              <a:t>классов, диаграмма пакетов, диаграмма развертывания и т.д.)</a:t>
            </a:r>
            <a:endParaRPr lang="ru-RU" sz="2100" dirty="0"/>
          </a:p>
          <a:p>
            <a:r>
              <a:rPr lang="ru-RU" sz="2100" b="1" dirty="0" smtClean="0"/>
              <a:t>2.3 </a:t>
            </a:r>
            <a:r>
              <a:rPr lang="ru-RU" sz="2100" b="1" dirty="0"/>
              <a:t>Проектирование </a:t>
            </a:r>
            <a:r>
              <a:rPr lang="ru-RU" sz="2100" b="1" dirty="0" smtClean="0"/>
              <a:t>БД </a:t>
            </a:r>
          </a:p>
          <a:p>
            <a:pPr marL="0" indent="0">
              <a:buNone/>
            </a:pPr>
            <a:r>
              <a:rPr lang="ru-RU" sz="2100" dirty="0" smtClean="0"/>
              <a:t>Здесь</a:t>
            </a:r>
            <a:r>
              <a:rPr lang="ru-RU" sz="2100" dirty="0"/>
              <a:t>: </a:t>
            </a:r>
            <a:endParaRPr lang="en-US" sz="2100" dirty="0"/>
          </a:p>
          <a:p>
            <a:pPr>
              <a:buFontTx/>
              <a:buChar char="-"/>
            </a:pPr>
            <a:r>
              <a:rPr lang="ru-RU" sz="2100" dirty="0"/>
              <a:t>физическая </a:t>
            </a:r>
            <a:r>
              <a:rPr lang="ru-RU" sz="2100" dirty="0" smtClean="0"/>
              <a:t>модель БД</a:t>
            </a:r>
            <a:endParaRPr lang="ru-RU" sz="2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274638"/>
            <a:ext cx="8122096" cy="1143000"/>
          </a:xfrm>
        </p:spPr>
        <p:txBody>
          <a:bodyPr>
            <a:normAutofit/>
          </a:bodyPr>
          <a:lstStyle/>
          <a:p>
            <a:r>
              <a:rPr lang="ru-RU" dirty="0" smtClean="0"/>
              <a:t>3 Разработка модулей ПО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7772400" cy="5077544"/>
          </a:xfrm>
        </p:spPr>
        <p:txBody>
          <a:bodyPr>
            <a:normAutofit fontScale="92500"/>
          </a:bodyPr>
          <a:lstStyle/>
          <a:p>
            <a:r>
              <a:rPr lang="ru-RU" b="1" dirty="0" smtClean="0"/>
              <a:t>3.1 Разработка программных модулей</a:t>
            </a:r>
          </a:p>
          <a:p>
            <a:pPr marL="0" indent="0">
              <a:buNone/>
            </a:pPr>
            <a:r>
              <a:rPr lang="ru-RU" dirty="0" smtClean="0"/>
              <a:t>Здесь: перечислить разработанные модули, привести листинги кода, описать реализацию логики работы приложения, работы с БД, </a:t>
            </a:r>
            <a:r>
              <a:rPr lang="en-US" dirty="0" smtClean="0"/>
              <a:t>API</a:t>
            </a:r>
            <a:r>
              <a:rPr lang="ru-RU" dirty="0" smtClean="0"/>
              <a:t>, использованные паттерны и подходы к программированию </a:t>
            </a:r>
          </a:p>
          <a:p>
            <a:r>
              <a:rPr lang="ru-RU" b="1" dirty="0" smtClean="0"/>
              <a:t>3.2 Реализация интерфейса пользователя</a:t>
            </a:r>
          </a:p>
          <a:p>
            <a:pPr marL="0" indent="0">
              <a:buNone/>
            </a:pPr>
            <a:r>
              <a:rPr lang="ru-RU" dirty="0" smtClean="0"/>
              <a:t>Здесь: описать технологии, использованные при реализации интерфейса пользователя, настройку стилей приложения</a:t>
            </a:r>
          </a:p>
          <a:p>
            <a:r>
              <a:rPr lang="ru-RU" b="1" dirty="0" smtClean="0"/>
              <a:t>3.3 </a:t>
            </a:r>
            <a:r>
              <a:rPr lang="ru-RU" b="1" dirty="0"/>
              <a:t>Разграничение прав доступа пользователей</a:t>
            </a:r>
          </a:p>
          <a:p>
            <a:pPr marL="0" indent="0">
              <a:buNone/>
            </a:pPr>
            <a:r>
              <a:rPr lang="ru-RU" dirty="0"/>
              <a:t>Здесь: </a:t>
            </a:r>
            <a:r>
              <a:rPr lang="ru-RU" dirty="0" smtClean="0"/>
              <a:t>привести пример </a:t>
            </a:r>
            <a:r>
              <a:rPr lang="ru-RU" dirty="0"/>
              <a:t>кода для разграничения </a:t>
            </a:r>
            <a:r>
              <a:rPr lang="ru-RU" dirty="0" smtClean="0"/>
              <a:t>прав доступа, авторизации и </a:t>
            </a:r>
            <a:r>
              <a:rPr lang="ru-RU" dirty="0" smtClean="0"/>
              <a:t>регистрации</a:t>
            </a:r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60981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4 Тестирование и отладка ПО 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ru-RU" b="1" dirty="0" smtClean="0"/>
              <a:t>4.1 </a:t>
            </a:r>
            <a:r>
              <a:rPr lang="ru-RU" b="1" dirty="0"/>
              <a:t>Структурное </a:t>
            </a:r>
            <a:r>
              <a:rPr lang="ru-RU" b="1" dirty="0" smtClean="0"/>
              <a:t>тестирование</a:t>
            </a:r>
          </a:p>
          <a:p>
            <a:pPr marL="0" indent="0">
              <a:buNone/>
            </a:pPr>
            <a:r>
              <a:rPr lang="ru-RU" dirty="0" smtClean="0"/>
              <a:t>Здесь: описание тестирования ПО программистом: листинги модульных тестов или таблицы с наборами тестов для тестирования ПО методом белого ящика (с доступом к коду)</a:t>
            </a:r>
          </a:p>
          <a:p>
            <a:r>
              <a:rPr lang="ru-RU" b="1" dirty="0" smtClean="0"/>
              <a:t>4.2 </a:t>
            </a:r>
            <a:r>
              <a:rPr lang="ru-RU" b="1" dirty="0"/>
              <a:t>Функциональное тестирование</a:t>
            </a:r>
            <a:endParaRPr lang="ru-RU" b="1" dirty="0" smtClean="0"/>
          </a:p>
          <a:p>
            <a:pPr marL="0" indent="0">
              <a:buNone/>
            </a:pPr>
            <a:r>
              <a:rPr lang="ru-RU" dirty="0"/>
              <a:t>Здесь: описание тестирования ПО </a:t>
            </a:r>
            <a:r>
              <a:rPr lang="ru-RU" dirty="0" smtClean="0"/>
              <a:t>пользователем: таблицы </a:t>
            </a:r>
            <a:r>
              <a:rPr lang="ru-RU" dirty="0"/>
              <a:t>с </a:t>
            </a:r>
            <a:r>
              <a:rPr lang="ru-RU" dirty="0" smtClean="0"/>
              <a:t>набором </a:t>
            </a:r>
            <a:r>
              <a:rPr lang="ru-RU" dirty="0"/>
              <a:t>тестов для тестирования </a:t>
            </a:r>
            <a:r>
              <a:rPr lang="ru-RU" dirty="0" smtClean="0"/>
              <a:t>функциональности методом черного ящика (без доступа к коду)</a:t>
            </a:r>
            <a:endParaRPr lang="ru-RU" dirty="0"/>
          </a:p>
          <a:p>
            <a:endParaRPr lang="ru-RU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5 Инструкция по эксплуатации ПО 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 smtClean="0"/>
              <a:t>5.1 Установка </a:t>
            </a:r>
            <a:r>
              <a:rPr lang="ru-RU" b="1" dirty="0"/>
              <a:t>программного обеспечения </a:t>
            </a:r>
            <a:endParaRPr lang="ru-RU" b="1" dirty="0" smtClean="0"/>
          </a:p>
          <a:p>
            <a:pPr marL="0" indent="0">
              <a:buNone/>
            </a:pPr>
            <a:r>
              <a:rPr lang="ru-RU" dirty="0" smtClean="0"/>
              <a:t>Здесь: описание процесса установки и развертывания ПО на сервере и на клиенте, указание логинов-паролей по умолчанию, импорт тестовых данных и необходимых для работы системы данных, настройка </a:t>
            </a:r>
            <a:r>
              <a:rPr lang="en-US" dirty="0" smtClean="0"/>
              <a:t>Docker </a:t>
            </a:r>
            <a:r>
              <a:rPr lang="ru-RU" dirty="0" smtClean="0"/>
              <a:t>и переменных окружения</a:t>
            </a:r>
          </a:p>
          <a:p>
            <a:r>
              <a:rPr lang="ru-RU" b="1" dirty="0" smtClean="0"/>
              <a:t>5.2 Инструкция по работе</a:t>
            </a:r>
          </a:p>
          <a:p>
            <a:pPr marL="0" indent="0">
              <a:buNone/>
            </a:pPr>
            <a:r>
              <a:rPr lang="ru-RU" dirty="0" smtClean="0"/>
              <a:t>Примеры интерфейсов для разных ролей, перечисление возможностей пользователя с иллюстрациями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58801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Список использованных </a:t>
            </a:r>
            <a:r>
              <a:rPr lang="ru-RU" dirty="0" smtClean="0"/>
              <a:t>источников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7772400" cy="5340350"/>
          </a:xfrm>
        </p:spPr>
        <p:txBody>
          <a:bodyPr>
            <a:noAutofit/>
          </a:bodyPr>
          <a:lstStyle/>
          <a:p>
            <a:pPr marL="342900" indent="-342900">
              <a:buFont typeface="Wingdings 2" panose="05020102010507070707"/>
              <a:buAutoNum type="arabicPeriod"/>
            </a:pPr>
            <a:r>
              <a:rPr lang="ru-RU" sz="1400" dirty="0"/>
              <a:t>Бек, К. Экстремальное программирование: разработка через тестирование. – Санкт-Петербург : Питер, 2021. – 224 с. – URL: </a:t>
            </a:r>
            <a:r>
              <a:rPr lang="ru-RU" sz="1400" dirty="0">
                <a:hlinkClick r:id="rId2"/>
              </a:rPr>
              <a:t>https://</a:t>
            </a:r>
            <a:r>
              <a:rPr lang="ru-RU" sz="1400" dirty="0" smtClean="0">
                <a:hlinkClick r:id="rId2"/>
              </a:rPr>
              <a:t>ibooks.ru/bookshelf/376974/reading</a:t>
            </a:r>
            <a:r>
              <a:rPr lang="en-US" sz="1400" dirty="0" smtClean="0"/>
              <a:t> </a:t>
            </a:r>
            <a:r>
              <a:rPr lang="ru-RU" sz="1400" dirty="0"/>
              <a:t>(дата обращения: </a:t>
            </a:r>
            <a:r>
              <a:rPr lang="ru-RU" sz="1400" dirty="0" smtClean="0"/>
              <a:t>__.11.2026). </a:t>
            </a:r>
            <a:r>
              <a:rPr lang="ru-RU" sz="1400" dirty="0"/>
              <a:t>– Режим доступа: для </a:t>
            </a:r>
            <a:r>
              <a:rPr lang="ru-RU" sz="1400" dirty="0" err="1"/>
              <a:t>зарегистрир</a:t>
            </a:r>
            <a:r>
              <a:rPr lang="ru-RU" sz="1400" dirty="0"/>
              <a:t>. пользователей. – Текст : электронный</a:t>
            </a:r>
            <a:r>
              <a:rPr lang="ru-RU" sz="1400" dirty="0" smtClean="0"/>
              <a:t>.</a:t>
            </a:r>
            <a:endParaRPr lang="en-US" sz="1400" dirty="0" smtClean="0"/>
          </a:p>
          <a:p>
            <a:pPr marL="342900" indent="-342900">
              <a:buFont typeface="Wingdings 2" panose="05020102010507070707"/>
              <a:buAutoNum type="arabicPeriod"/>
            </a:pPr>
            <a:r>
              <a:rPr lang="ru-RU" sz="1400" dirty="0"/>
              <a:t>Гагарина, Л. Г. Технология разработки программного обеспечения : учебное пособие / Л. Г. Гагарина, Е. В. </a:t>
            </a:r>
            <a:r>
              <a:rPr lang="ru-RU" sz="1400" dirty="0" err="1"/>
              <a:t>Кокорева</a:t>
            </a:r>
            <a:r>
              <a:rPr lang="ru-RU" sz="1400" dirty="0"/>
              <a:t>, Б. Д. Сидорова-</a:t>
            </a:r>
            <a:r>
              <a:rPr lang="ru-RU" sz="1400" dirty="0" err="1"/>
              <a:t>Виснадул</a:t>
            </a:r>
            <a:r>
              <a:rPr lang="ru-RU" sz="1400" dirty="0"/>
              <a:t> ; под ред. Л. Г. Гагариной. – Москва : ФОРУМ : ИНФРА-М, 2025. – 400 с. – URL: </a:t>
            </a:r>
            <a:r>
              <a:rPr lang="ru-RU" sz="1400" dirty="0">
                <a:hlinkClick r:id="rId3"/>
              </a:rPr>
              <a:t>https://</a:t>
            </a:r>
            <a:r>
              <a:rPr lang="ru-RU" sz="1400" dirty="0" smtClean="0">
                <a:hlinkClick r:id="rId3"/>
              </a:rPr>
              <a:t>znanium.ru/catalog/product/2178802</a:t>
            </a:r>
            <a:r>
              <a:rPr lang="en-US" sz="1400" dirty="0" smtClean="0"/>
              <a:t> </a:t>
            </a:r>
            <a:r>
              <a:rPr lang="ru-RU" sz="1400" dirty="0"/>
              <a:t>(дата обращения: </a:t>
            </a:r>
            <a:r>
              <a:rPr lang="ru-RU" sz="1400" dirty="0" smtClean="0"/>
              <a:t>__.11.2026). </a:t>
            </a:r>
            <a:r>
              <a:rPr lang="ru-RU" sz="1400" dirty="0"/>
              <a:t>– Режим доступа: по подписке. – Текст : электронный</a:t>
            </a:r>
            <a:r>
              <a:rPr lang="ru-RU" sz="1400" dirty="0" smtClean="0"/>
              <a:t>.</a:t>
            </a:r>
            <a:endParaRPr lang="en-US" sz="1400" dirty="0" smtClean="0"/>
          </a:p>
          <a:p>
            <a:pPr marL="342900" indent="-342900">
              <a:buFont typeface="Wingdings 2" panose="05020102010507070707"/>
              <a:buAutoNum type="arabicPeriod"/>
            </a:pPr>
            <a:r>
              <a:rPr lang="ru-RU" sz="1400" dirty="0" err="1"/>
              <a:t>Мартишин</a:t>
            </a:r>
            <a:r>
              <a:rPr lang="ru-RU" sz="1400" dirty="0"/>
              <a:t>, С. А. Базы данных. Практическое применение СУБД SQL и </a:t>
            </a:r>
            <a:r>
              <a:rPr lang="ru-RU" sz="1400" dirty="0" err="1"/>
              <a:t>NoSQL</a:t>
            </a:r>
            <a:r>
              <a:rPr lang="ru-RU" sz="1400" dirty="0"/>
              <a:t>-типа для проектирования информационных систем : учебное пособие / С. А. </a:t>
            </a:r>
            <a:r>
              <a:rPr lang="ru-RU" sz="1400" dirty="0" err="1"/>
              <a:t>Мартишин</a:t>
            </a:r>
            <a:r>
              <a:rPr lang="ru-RU" sz="1400" dirty="0"/>
              <a:t>, В. Л. Симонов, М. В. Храпченко. – Москва : ФОРУМ : ИНФРА-М, 2024. – 368 с. – URL: </a:t>
            </a:r>
            <a:r>
              <a:rPr lang="ru-RU" sz="1400" dirty="0">
                <a:hlinkClick r:id="rId4"/>
              </a:rPr>
              <a:t>https://</a:t>
            </a:r>
            <a:r>
              <a:rPr lang="ru-RU" sz="1400" dirty="0" smtClean="0">
                <a:hlinkClick r:id="rId4"/>
              </a:rPr>
              <a:t>znanium.ru/catalog/product/2096940</a:t>
            </a:r>
            <a:r>
              <a:rPr lang="en-US" sz="1400" dirty="0" smtClean="0"/>
              <a:t> </a:t>
            </a:r>
            <a:r>
              <a:rPr lang="ru-RU" sz="1400" dirty="0"/>
              <a:t>(дата обращения: </a:t>
            </a:r>
            <a:r>
              <a:rPr lang="ru-RU" sz="1400" dirty="0" smtClean="0"/>
              <a:t>__.11.2026). </a:t>
            </a:r>
            <a:r>
              <a:rPr lang="ru-RU" sz="1400" dirty="0"/>
              <a:t>– Режим доступа: по подписке. – Текст : электронный.</a:t>
            </a:r>
            <a:endParaRPr lang="en-US" sz="1400" dirty="0" smtClean="0"/>
          </a:p>
          <a:p>
            <a:pPr marL="342900" indent="-342900">
              <a:buFont typeface="Wingdings 2" panose="05020102010507070707"/>
              <a:buAutoNum type="arabicPeriod"/>
            </a:pPr>
            <a:r>
              <a:rPr lang="ru-RU" sz="1400" dirty="0" err="1"/>
              <a:t>Тидвелл</a:t>
            </a:r>
            <a:r>
              <a:rPr lang="ru-RU" sz="1400" dirty="0"/>
              <a:t>, Д. Разработка интерфейсов. Паттерны проектирования. 3-е изд. – Санкт-Петербург : Питер, 2022. – 560 с. – URL: </a:t>
            </a:r>
            <a:r>
              <a:rPr lang="ru-RU" sz="1400" dirty="0">
                <a:hlinkClick r:id="rId5"/>
              </a:rPr>
              <a:t>https://</a:t>
            </a:r>
            <a:r>
              <a:rPr lang="ru-RU" sz="1400" dirty="0" smtClean="0">
                <a:hlinkClick r:id="rId5"/>
              </a:rPr>
              <a:t>ibooks.ru/bookshelf/386796/reading</a:t>
            </a:r>
            <a:r>
              <a:rPr lang="en-US" sz="1400" dirty="0" smtClean="0"/>
              <a:t> </a:t>
            </a:r>
            <a:r>
              <a:rPr lang="ru-RU" sz="1400" dirty="0"/>
              <a:t>(дата обращения: </a:t>
            </a:r>
            <a:r>
              <a:rPr lang="ru-RU" sz="1400" dirty="0" smtClean="0"/>
              <a:t>__.11.2026). </a:t>
            </a:r>
            <a:r>
              <a:rPr lang="ru-RU" sz="1400" dirty="0"/>
              <a:t>– Режим доступа: для </a:t>
            </a:r>
            <a:r>
              <a:rPr lang="ru-RU" sz="1400" dirty="0" err="1"/>
              <a:t>зарегистрир</a:t>
            </a:r>
            <a:r>
              <a:rPr lang="ru-RU" sz="1400" dirty="0"/>
              <a:t>. пользователей. – Текст : электронный.</a:t>
            </a:r>
            <a:endParaRPr lang="en-US" sz="1400" dirty="0" smtClean="0"/>
          </a:p>
          <a:p>
            <a:pPr marL="342900" indent="-342900">
              <a:buFont typeface="Wingdings 2" panose="05020102010507070707"/>
              <a:buAutoNum type="arabicPeriod"/>
            </a:pPr>
            <a:r>
              <a:rPr lang="ru-RU" sz="1400" dirty="0"/>
              <a:t>Федорова, Г. Н. Разработка, внедрение и адаптация программного обеспечения отраслевой направленности : учебное пособие. – Москва : КУРС : ИНФРА-М, 2024. – </a:t>
            </a:r>
            <a:r>
              <a:rPr lang="ru-RU" sz="1400" dirty="0" smtClean="0"/>
              <a:t>336</a:t>
            </a:r>
            <a:r>
              <a:rPr lang="en-US" sz="1400" dirty="0" smtClean="0"/>
              <a:t> </a:t>
            </a:r>
            <a:r>
              <a:rPr lang="ru-RU" sz="1400" dirty="0" smtClean="0"/>
              <a:t>с.</a:t>
            </a:r>
            <a:r>
              <a:rPr lang="en-US" sz="1400" dirty="0" smtClean="0"/>
              <a:t> </a:t>
            </a:r>
            <a:r>
              <a:rPr lang="ru-RU" sz="1400" dirty="0" smtClean="0"/>
              <a:t>– </a:t>
            </a:r>
            <a:r>
              <a:rPr lang="ru-RU" sz="1400" dirty="0"/>
              <a:t>URL: </a:t>
            </a:r>
            <a:r>
              <a:rPr lang="ru-RU" sz="1400" dirty="0">
                <a:hlinkClick r:id="rId6"/>
              </a:rPr>
              <a:t>https://</a:t>
            </a:r>
            <a:r>
              <a:rPr lang="ru-RU" sz="1400" dirty="0" smtClean="0">
                <a:hlinkClick r:id="rId6"/>
              </a:rPr>
              <a:t>znanium.ru/catalog/product/2083407</a:t>
            </a:r>
            <a:r>
              <a:rPr lang="en-US" sz="1400" dirty="0" smtClean="0"/>
              <a:t> </a:t>
            </a:r>
            <a:r>
              <a:rPr lang="ru-RU" sz="1400" dirty="0"/>
              <a:t>(дата обращения: </a:t>
            </a:r>
            <a:r>
              <a:rPr lang="ru-RU" sz="1400" dirty="0" smtClean="0"/>
              <a:t>__.11.2026). </a:t>
            </a:r>
            <a:r>
              <a:rPr lang="ru-RU" sz="1400" dirty="0"/>
              <a:t>– Режим доступа: по подписке. – Текст : электронный</a:t>
            </a:r>
            <a:r>
              <a:rPr lang="ru-RU" sz="1400" dirty="0" smtClean="0"/>
              <a:t>.</a:t>
            </a:r>
          </a:p>
          <a:p>
            <a:pPr marL="0" indent="0">
              <a:buNone/>
            </a:pPr>
            <a:r>
              <a:rPr lang="ru-RU" sz="1400" dirty="0"/>
              <a:t>На все источники должна быть ссылка в тексте (указывается в </a:t>
            </a:r>
            <a:r>
              <a:rPr lang="en-US" sz="1400" dirty="0" smtClean="0"/>
              <a:t>[…])</a:t>
            </a:r>
            <a:endParaRPr lang="ru-RU" sz="1400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праведливость">
  <a:themeElements>
    <a:clrScheme name="Справедливость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Справедливость">
      <a:majorFont>
        <a:latin typeface="Franklin Gothic Book"/>
        <a:ea typeface=""/>
        <a:cs typeface=""/>
        <a:font script="Grek" typeface="Calibri"/>
        <a:font script="Cyrl" typeface="Calibri"/>
        <a:font script="Jpan" typeface="HGｺﾞｼｯｸM"/>
        <a:font script="Hang" typeface="바탕"/>
        <a:font script="Hans" typeface="幼圆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Perpetua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Справедливость">
      <a: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tint val="30000"/>
                <a:satMod val="300000"/>
              </a:schemeClr>
              <a:schemeClr val="phClr">
                <a:tint val="40000"/>
                <a:satMod val="200000"/>
              </a:schemeClr>
            </a:duotone>
          </a:blip>
          <a:tile tx="0" ty="0" sx="70000" sy="70000" flip="none" algn="ctr"/>
        </a:blipFill>
        <a:blipFill>
          <a:blip xmlns:r="http://schemas.openxmlformats.org/officeDocument/2006/relationships" r:embed="rId1">
            <a:duotone>
              <a:schemeClr val="phClr">
                <a:shade val="22000"/>
                <a:satMod val="160000"/>
              </a:schemeClr>
              <a:schemeClr val="phClr">
                <a:shade val="45000"/>
                <a:satMod val="100000"/>
              </a:schemeClr>
            </a:duotone>
          </a:blip>
          <a:tile tx="0" ty="0" sx="65000" sy="65000" flip="none" algn="ctr"/>
        </a:blipFill>
      </a:fillStyleLst>
      <a:lnStyleLst>
        <a:ln w="9525" cap="flat" cmpd="sng" algn="ctr">
          <a:solidFill>
            <a:schemeClr val="phClr">
              <a:shade val="60000"/>
              <a:satMod val="11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50800" dir="5400000" algn="t" rotWithShape="0">
              <a:srgbClr val="000000">
                <a:alpha val="60000"/>
              </a:srgbClr>
            </a:outerShdw>
          </a:effectLst>
          <a:scene3d>
            <a:camera prst="isometricBottomUp" fov="0">
              <a:rot lat="0" lon="0" rev="0"/>
            </a:camera>
            <a:lightRig rig="soft" dir="b">
              <a:rot lat="0" lon="0" rev="9000000"/>
            </a:lightRig>
          </a:scene3d>
          <a:sp3d contourW="35000" prstMaterial="matte">
            <a:bevelT w="45000" h="38100" prst="convex"/>
            <a:contourClr>
              <a:schemeClr val="phClr">
                <a:tint val="1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65000"/>
              </a:schemeClr>
            </a:gs>
            <a:gs pos="50000">
              <a:schemeClr val="phClr">
                <a:shade val="80000"/>
                <a:satMod val="155000"/>
              </a:schemeClr>
            </a:gs>
            <a:gs pos="100000">
              <a:schemeClr val="phClr">
                <a:tint val="95000"/>
                <a:satMod val="20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tint val="95000"/>
                <a:satMod val="200000"/>
              </a:schemeClr>
              <a:schemeClr val="phClr">
                <a:shade val="80000"/>
                <a:satMod val="100000"/>
              </a:schemeClr>
            </a:duotone>
          </a:blip>
          <a:tile tx="0" ty="0" sx="55000" sy="55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Equity</Template>
  <TotalTime>824</TotalTime>
  <Words>1585</Words>
  <Application>Microsoft Office PowerPoint</Application>
  <PresentationFormat>Экран (4:3)</PresentationFormat>
  <Paragraphs>152</Paragraphs>
  <Slides>21</Slides>
  <Notes>0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7" baseType="lpstr">
      <vt:lpstr>Calibri</vt:lpstr>
      <vt:lpstr>Cambria</vt:lpstr>
      <vt:lpstr>Franklin Gothic Book</vt:lpstr>
      <vt:lpstr>Perpetua</vt:lpstr>
      <vt:lpstr>Wingdings 2</vt:lpstr>
      <vt:lpstr>Справедливость</vt:lpstr>
      <vt:lpstr>Курсовое проектирование МДК.02.01 Технология разработки ПО</vt:lpstr>
      <vt:lpstr>Тема курсового проекта (КП)</vt:lpstr>
      <vt:lpstr>Требования</vt:lpstr>
      <vt:lpstr>Цель курсового проектирования</vt:lpstr>
      <vt:lpstr>Задачи курсового проектирования</vt:lpstr>
      <vt:lpstr>Задачи курсового проектирования</vt:lpstr>
      <vt:lpstr>Профессиональные компетенции</vt:lpstr>
      <vt:lpstr>Практический опыт (ФГОС)</vt:lpstr>
      <vt:lpstr>Умения (ФГОС)</vt:lpstr>
      <vt:lpstr>Знания (ФГОС)</vt:lpstr>
      <vt:lpstr>Этапы выполнения КП</vt:lpstr>
      <vt:lpstr>Отправка работы</vt:lpstr>
      <vt:lpstr>Оформление пояснительной записки</vt:lpstr>
      <vt:lpstr>USB-флешка</vt:lpstr>
      <vt:lpstr>Содержимое ПЗ</vt:lpstr>
      <vt:lpstr>1 Анализ и разработка требований</vt:lpstr>
      <vt:lpstr>2 Проектирование ПО</vt:lpstr>
      <vt:lpstr>3 Разработка модулей ПО</vt:lpstr>
      <vt:lpstr>4 Тестирование и отладка ПО </vt:lpstr>
      <vt:lpstr>5 Инструкция по эксплуатации ПО </vt:lpstr>
      <vt:lpstr>Список использованных источников</vt:lpstr>
    </vt:vector>
  </TitlesOfParts>
  <Company>Acer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Курсовое проектирование МДК.02.02</dc:title>
  <dc:creator>Valued Acer Customer</dc:creator>
  <cp:lastModifiedBy>jsm</cp:lastModifiedBy>
  <cp:revision>159</cp:revision>
  <dcterms:created xsi:type="dcterms:W3CDTF">2021-03-06T05:01:00Z</dcterms:created>
  <dcterms:modified xsi:type="dcterms:W3CDTF">2026-10-14T07:21:46Z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1033-11.2.0.10308</vt:lpwstr>
  </property>
  <property fmtid="{D5CDD505-2E9C-101B-9397-08002B2CF9AE}" pid="3" name="ICV">
    <vt:lpwstr>686F559373614CF8864994671E0D706A</vt:lpwstr>
  </property>
</Properties>
</file>